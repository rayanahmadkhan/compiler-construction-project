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DM Sans" pitchFamily="2" charset="0"/>
      <p:regular r:id="rId18"/>
      <p:bold r:id="rId19"/>
    </p:embeddedFont>
    <p:embeddedFont>
      <p:font typeface="JetBrains Mono" panose="020B060402020202020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275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Phase 1 was a table-driven lexer, Phase 2 adds a stack-based LL(1) predictive parser with panic-mode error recovery. The card on the right is one real step from the Sample B dry run. Fill in your name and roll number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program, two stages. The lexer turns Sourcecode.txt into Token.txt, then the parser reads those tokens and decides accept or reject. ParsingTable.txt is a dump of FIRST, FOLLOW and table M, handy for checking against the handwritten pages.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lexer change is one character: the comma joins the punctuation class. Everything else in the DFA stays as it was in Phase 1. The table on the right is how the parser turns Phase 1 token classes into grammar terminals; tokens outside the grammar become “other” and are always scanned away.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broke LL(1) in the given grammar: a common prefix on Adadi, immediate left recursion in five rules, a common prefix on ID in IdentList, and a hidden common prefix on ID inside Expr. Each card shows the problem and the fix. The converted grammar generates the same language and the table has no cell with two productions.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grammar that changed most. Expr decides on its first token: ID, NUM or an open bracket. After an ID, ExprRest decides between assignment and the operator tail. The primed rules replace the left-recursive loops with right-recursive tails ending in epsilon.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representative rows out of 28 non-terminals. FIRST of a rule fills the production boxes of the table. FOLLOW fills the epsilon boxes, and later it is exactly what panic mode uses to decide between POP and SCAN. The full sets are in the FIRST and FOLLOW tab of the spreadsheet and in ParsingTable.txt.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heart of the parser. Every production goes into the boxes of its FIRST set, and nullable productions also go into the FOLLOW boxes. Every remaining box is an error box, labelled Pop or Scan so recovery is decided by the table itself. Both the handwritten table and the one the C++ code builds give these same counts.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corner of the full table: five rows and eight columns. Blue numbers are production numbers, orange Pop boxes mean the lookahead can legally follow this non-terminal, and grey Scan boxes mean the token cannot start or follow it. The full 28 by 31 table is in the spreadsheet.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Panic mode: when the parser hits an error it records it with line and column, then recovers so the rest of the program is still checked. The choice between POP and SCAN is read straight from the table: orange boxes are POP, grey boxes are SCAN. Consecutive errors with no successful match in between are counted as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A is a function with two parameters and a body with a declaration and two assignments. The parser accepts it in 81 steps, exactly the count in the handwritten trace. The excerpt shows how an assignment is parsed: Expr expands to ID ExprRest, the ID is matched, then the assignment operator selects production 42.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deliberate mistakes: a declaration that ends in a comma, and an expression that ends in a plus. Both hit an empty table box whose column token is in FOLLOW of the stack top, so recovery is a POP: the missing piece is dropped and the parser carries on. The trace shows the same two rows highlighted. Because errors were found, the verdict is REJECT.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B only needs POP, so Sample C is the extra input that shows both recovery actions. The doubled star triggers a POP of Factor. Wapas is a keyword in the Phase 1 lexer but not part of this grammar, so it becomes the token other and is discarded with a SCAN. The expression then continues with the 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of the handwritten solution has one place in the code. The table is generated from the numbered productions at start-up instead of being typed in, and it was checked cell by cell against the handwritten table. The parser loop is the same match, expand, SCAN and POP logic described in Part 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for the video. Compile once, then run the three samples in order. After each run show the one-line verdict in the terminal, then open ParseTrace.txt and SyntaxErrors.txt and point at the same error rows that appear in the handwritten traces. Sample C is the one that shows a SCAN.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checks: the step counts and the error rows of all three dry runs match the handwritten solution, and the generated table matches the handwritten table cell for cell.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2"/>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F1B33"/>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202"/>
            <a:ext cx="10566400" cy="4190998"/>
          </a:xfrm>
          <a:prstGeom prst="rect">
            <a:avLst/>
          </a:prstGeom>
          <a:noFill/>
          <a:ln/>
        </p:spPr>
        <p:txBody>
          <a:bodyPr wrap="square" lIns="0" tIns="0" rIns="0" bIns="0" rtlCol="0" anchor="t"/>
          <a:lstStyle>
            <a:lvl1pPr marL="0" indent="0" algn="l">
              <a:lnSpc>
                <a:spcPct val="140000"/>
              </a:lnSpc>
              <a:buNone/>
              <a:defRPr lang="en-US" sz="1600" dirty="0">
                <a:solidFill>
                  <a:srgbClr val="0F1B3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2"/>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F1B33"/>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202"/>
            <a:ext cx="10566400" cy="4190998"/>
          </a:xfrm>
          <a:prstGeom prst="rect">
            <a:avLst/>
          </a:prstGeom>
          <a:noFill/>
          <a:ln/>
        </p:spPr>
        <p:txBody>
          <a:bodyPr wrap="square" lIns="0" tIns="0" rIns="0" bIns="0" rtlCol="0" anchor="t"/>
          <a:lstStyle>
            <a:lvl1pPr marL="0" indent="0" algn="l">
              <a:lnSpc>
                <a:spcPct val="140000"/>
              </a:lnSpc>
              <a:buNone/>
              <a:defRPr lang="en-US" sz="1600" dirty="0">
                <a:solidFill>
                  <a:srgbClr val="0F1B3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134"/>
                </a:solidFill>
                <a:latin typeface="DM Sans" pitchFamily="34" charset="0"/>
                <a:ea typeface="DM Sans" pitchFamily="34" charset="-122"/>
                <a:cs typeface="DM Sans" pitchFamily="34" charset="-120"/>
              </a:rPr>
              <a:t>COMPILER CONSTRUCTION · PROJECT PHASE 2</a:t>
            </a:r>
            <a:endParaRPr lang="en-US" sz="1400" dirty="0"/>
          </a:p>
        </p:txBody>
      </p:sp>
      <p:sp>
        <p:nvSpPr>
          <p:cNvPr id="3" name="Text 1"/>
          <p:cNvSpPr>
            <a:spLocks noGrp="1"/>
          </p:cNvSpPr>
          <p:nvPr>
            <p:ph type="title"/>
          </p:nvPr>
        </p:nvSpPr>
        <p:spPr>
          <a:xfrm>
            <a:off x="812800" y="2272030"/>
            <a:ext cx="5886450" cy="1518920"/>
          </a:xfrm>
          <a:prstGeom prst="rect">
            <a:avLst/>
          </a:prstGeom>
          <a:noFill/>
          <a:ln/>
        </p:spPr>
        <p:txBody>
          <a:bodyPr wrap="square" lIns="0" tIns="0" rIns="0" bIns="0" rtlCol="0" anchor="t">
            <a:normAutofit/>
          </a:bodyPr>
          <a:lstStyle/>
          <a:p>
            <a:pPr marL="0" indent="0" algn="l">
              <a:lnSpc>
                <a:spcPts val="5880"/>
              </a:lnSpc>
              <a:buNone/>
            </a:pPr>
            <a:r>
              <a:rPr lang="en-US" sz="5600" b="1" i="0" kern="0" spc="-100" dirty="0">
                <a:solidFill>
                  <a:srgbClr val="F7F6F1"/>
                </a:solidFill>
                <a:latin typeface="DM Sans" pitchFamily="34" charset="0"/>
                <a:ea typeface="DM Sans" pitchFamily="34" charset="-122"/>
                <a:cs typeface="DM Sans" pitchFamily="34" charset="-120"/>
              </a:rPr>
              <a:t>LL(1) Syntax Analyzer</a:t>
            </a:r>
            <a:endParaRPr lang="en-US" sz="5600" dirty="0"/>
          </a:p>
        </p:txBody>
      </p:sp>
      <p:sp>
        <p:nvSpPr>
          <p:cNvPr id="4" name="Text 2"/>
          <p:cNvSpPr/>
          <p:nvPr/>
        </p:nvSpPr>
        <p:spPr>
          <a:xfrm>
            <a:off x="812800" y="3968750"/>
            <a:ext cx="5886450" cy="64262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3D9"/>
                </a:solidFill>
                <a:latin typeface="DM Sans" pitchFamily="34" charset="0"/>
                <a:ea typeface="DM Sans" pitchFamily="34" charset="-122"/>
                <a:cs typeface="DM Sans" pitchFamily="34" charset="-120"/>
              </a:rPr>
              <a:t>A table-driven predictive parser for the Phase 1 language, written in C++</a:t>
            </a:r>
            <a:endParaRPr lang="en-US" sz="18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D9"/>
                </a:solidFill>
                <a:latin typeface="DM Sans" pitchFamily="34" charset="0"/>
                <a:ea typeface="DM Sans" pitchFamily="34" charset="-122"/>
                <a:cs typeface="DM Sans" pitchFamily="34" charset="-120"/>
              </a:rPr>
              <a:t>Rayan Ahmad Khan · 23L-3030 · BCS-7D</a:t>
            </a:r>
            <a:endParaRPr lang="en-US" sz="1400" dirty="0"/>
          </a:p>
        </p:txBody>
      </p:sp>
      <p:sp>
        <p:nvSpPr>
          <p:cNvPr id="6" name="Shape 4"/>
          <p:cNvSpPr/>
          <p:nvPr/>
        </p:nvSpPr>
        <p:spPr>
          <a:xfrm>
            <a:off x="7115175" y="1908175"/>
            <a:ext cx="4260850" cy="2442210"/>
          </a:xfrm>
          <a:prstGeom prst="roundRect">
            <a:avLst>
              <a:gd name="adj" fmla="val 4030"/>
            </a:avLst>
          </a:prstGeom>
          <a:solidFill>
            <a:srgbClr val="17274A"/>
          </a:solidFill>
          <a:ln w="6350">
            <a:solidFill>
              <a:srgbClr val="2B3D66"/>
            </a:solidFill>
            <a:prstDash val="solid"/>
          </a:ln>
        </p:spPr>
        <p:txBody>
          <a:bodyPr/>
          <a:lstStyle/>
          <a:p>
            <a:endParaRPr lang="en-PK"/>
          </a:p>
        </p:txBody>
      </p:sp>
      <p:sp>
        <p:nvSpPr>
          <p:cNvPr id="7" name="Text 5"/>
          <p:cNvSpPr/>
          <p:nvPr/>
        </p:nvSpPr>
        <p:spPr>
          <a:xfrm>
            <a:off x="7345680" y="2138680"/>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134"/>
                </a:solidFill>
                <a:latin typeface="DM Sans" pitchFamily="34" charset="0"/>
                <a:ea typeface="DM Sans" pitchFamily="34" charset="-122"/>
                <a:cs typeface="DM Sans" pitchFamily="34" charset="-120"/>
              </a:rPr>
              <a:t>PARSER STEP 21, SAMPLE B</a:t>
            </a:r>
            <a:endParaRPr lang="en-US" sz="1200" dirty="0"/>
          </a:p>
        </p:txBody>
      </p:sp>
      <p:sp>
        <p:nvSpPr>
          <p:cNvPr id="8" name="Text 6"/>
          <p:cNvSpPr/>
          <p:nvPr/>
        </p:nvSpPr>
        <p:spPr>
          <a:xfrm>
            <a:off x="7345680" y="2415540"/>
            <a:ext cx="39138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9"/>
                </a:solidFill>
                <a:latin typeface="DM Sans" pitchFamily="34" charset="0"/>
                <a:ea typeface="DM Sans" pitchFamily="34" charset="-122"/>
                <a:cs typeface="DM Sans" pitchFamily="34" charset="-120"/>
              </a:rPr>
              <a:t>stack</a:t>
            </a:r>
            <a:endParaRPr lang="en-US" sz="1200" dirty="0"/>
          </a:p>
        </p:txBody>
      </p:sp>
      <p:sp>
        <p:nvSpPr>
          <p:cNvPr id="9" name="Text 7"/>
          <p:cNvSpPr/>
          <p:nvPr/>
        </p:nvSpPr>
        <p:spPr>
          <a:xfrm>
            <a:off x="7345680" y="2692400"/>
            <a:ext cx="391383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JetBrains Mono" pitchFamily="49" charset="0"/>
                <a:ea typeface="JetBrains Mono" pitchFamily="49" charset="-122"/>
                <a:cs typeface="JetBrains Mono" pitchFamily="49" charset="-120"/>
              </a:rPr>
              <a:t>Expr :: StmtList } $</a:t>
            </a:r>
            <a:endParaRPr lang="en-US" sz="1400" dirty="0"/>
          </a:p>
        </p:txBody>
      </p:sp>
      <p:sp>
        <p:nvSpPr>
          <p:cNvPr id="10" name="Text 8"/>
          <p:cNvSpPr/>
          <p:nvPr/>
        </p:nvSpPr>
        <p:spPr>
          <a:xfrm>
            <a:off x="7345680" y="3004820"/>
            <a:ext cx="39138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9"/>
                </a:solidFill>
                <a:latin typeface="DM Sans" pitchFamily="34" charset="0"/>
                <a:ea typeface="DM Sans" pitchFamily="34" charset="-122"/>
                <a:cs typeface="DM Sans" pitchFamily="34" charset="-120"/>
              </a:rPr>
              <a:t>input</a:t>
            </a:r>
            <a:endParaRPr lang="en-US" sz="1200" dirty="0"/>
          </a:p>
        </p:txBody>
      </p:sp>
      <p:sp>
        <p:nvSpPr>
          <p:cNvPr id="11" name="Text 9"/>
          <p:cNvSpPr/>
          <p:nvPr/>
        </p:nvSpPr>
        <p:spPr>
          <a:xfrm>
            <a:off x="7345680" y="3281680"/>
            <a:ext cx="391383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JetBrains Mono" pitchFamily="49" charset="0"/>
                <a:ea typeface="JetBrains Mono" pitchFamily="49" charset="-122"/>
                <a:cs typeface="JetBrains Mono" pitchFamily="49" charset="-120"/>
              </a:rPr>
              <a:t>ID := NUM + :: } $</a:t>
            </a:r>
            <a:endParaRPr lang="en-US" sz="1400" dirty="0"/>
          </a:p>
        </p:txBody>
      </p:sp>
      <p:sp>
        <p:nvSpPr>
          <p:cNvPr id="12" name="Text 10"/>
          <p:cNvSpPr/>
          <p:nvPr/>
        </p:nvSpPr>
        <p:spPr>
          <a:xfrm>
            <a:off x="7345680" y="3594100"/>
            <a:ext cx="39138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9"/>
                </a:solidFill>
                <a:latin typeface="DM Sans" pitchFamily="34" charset="0"/>
                <a:ea typeface="DM Sans" pitchFamily="34" charset="-122"/>
                <a:cs typeface="DM Sans" pitchFamily="34" charset="-120"/>
              </a:rPr>
              <a:t>action</a:t>
            </a:r>
            <a:endParaRPr lang="en-US" sz="1200" dirty="0"/>
          </a:p>
        </p:txBody>
      </p:sp>
      <p:sp>
        <p:nvSpPr>
          <p:cNvPr id="13" name="Text 11"/>
          <p:cNvSpPr/>
          <p:nvPr/>
        </p:nvSpPr>
        <p:spPr>
          <a:xfrm>
            <a:off x="7345680" y="3870960"/>
            <a:ext cx="402717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B134"/>
                </a:solidFill>
                <a:latin typeface="JetBrains Mono" pitchFamily="49" charset="0"/>
                <a:ea typeface="JetBrains Mono" pitchFamily="49" charset="-122"/>
                <a:cs typeface="JetBrains Mono" pitchFamily="49" charset="-120"/>
              </a:rPr>
              <a:t>M[Expr,ID] = 39: Expr → ID ExprRest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OVERVIEW</a:t>
            </a:r>
            <a:endParaRPr lang="en-US" sz="1200" dirty="0"/>
          </a:p>
        </p:txBody>
      </p:sp>
      <p:sp>
        <p:nvSpPr>
          <p:cNvPr id="3" name="Text 1"/>
          <p:cNvSpPr>
            <a:spLocks noGrp="1"/>
          </p:cNvSpPr>
          <p:nvPr>
            <p:ph type="title"/>
          </p:nvPr>
        </p:nvSpPr>
        <p:spPr>
          <a:xfrm>
            <a:off x="812800" y="11023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From source text to a verdict</a:t>
            </a:r>
            <a:endParaRPr lang="en-US" sz="3200" dirty="0"/>
          </a:p>
        </p:txBody>
      </p:sp>
      <p:sp>
        <p:nvSpPr>
          <p:cNvPr id="4" name="Shape 2"/>
          <p:cNvSpPr/>
          <p:nvPr/>
        </p:nvSpPr>
        <p:spPr>
          <a:xfrm>
            <a:off x="815975" y="2088515"/>
            <a:ext cx="2218690" cy="910590"/>
          </a:xfrm>
          <a:prstGeom prst="roundRect">
            <a:avLst>
              <a:gd name="adj" fmla="val 10809"/>
            </a:avLst>
          </a:prstGeom>
          <a:solidFill>
            <a:srgbClr val="FDFCF8"/>
          </a:solidFill>
          <a:ln w="6350">
            <a:solidFill>
              <a:srgbClr val="E2DFD3"/>
            </a:solidFill>
            <a:prstDash val="solid"/>
          </a:ln>
        </p:spPr>
        <p:txBody>
          <a:bodyPr/>
          <a:lstStyle/>
          <a:p>
            <a:endParaRPr lang="en-PK"/>
          </a:p>
        </p:txBody>
      </p:sp>
      <p:sp>
        <p:nvSpPr>
          <p:cNvPr id="5" name="Text 3"/>
          <p:cNvSpPr/>
          <p:nvPr/>
        </p:nvSpPr>
        <p:spPr>
          <a:xfrm>
            <a:off x="995680" y="2268220"/>
            <a:ext cx="191505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Sourcecode.txt</a:t>
            </a:r>
            <a:endParaRPr lang="en-US" sz="1600" dirty="0"/>
          </a:p>
        </p:txBody>
      </p:sp>
      <p:sp>
        <p:nvSpPr>
          <p:cNvPr id="6" name="Text 4"/>
          <p:cNvSpPr/>
          <p:nvPr/>
        </p:nvSpPr>
        <p:spPr>
          <a:xfrm>
            <a:off x="995680" y="2588260"/>
            <a:ext cx="191505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The program to check</a:t>
            </a:r>
            <a:endParaRPr lang="en-US" sz="1300" dirty="0"/>
          </a:p>
        </p:txBody>
      </p:sp>
      <p:pic>
        <p:nvPicPr>
          <p:cNvPr id="7" name="Image 0" descr="arrow-right"/>
          <p:cNvPicPr>
            <a:picLocks noChangeAspect="1"/>
          </p:cNvPicPr>
          <p:nvPr/>
        </p:nvPicPr>
        <p:blipFill>
          <a:blip r:embed="rId3"/>
          <a:srcRect/>
          <a:stretch/>
        </p:blipFill>
        <p:spPr>
          <a:xfrm>
            <a:off x="3139440" y="2416810"/>
            <a:ext cx="355600" cy="254000"/>
          </a:xfrm>
          <a:prstGeom prst="rect">
            <a:avLst/>
          </a:prstGeom>
        </p:spPr>
      </p:pic>
      <p:sp>
        <p:nvSpPr>
          <p:cNvPr id="8" name="Shape 5"/>
          <p:cNvSpPr/>
          <p:nvPr/>
        </p:nvSpPr>
        <p:spPr>
          <a:xfrm>
            <a:off x="3599815" y="1857375"/>
            <a:ext cx="2218690" cy="1372870"/>
          </a:xfrm>
          <a:prstGeom prst="roundRect">
            <a:avLst>
              <a:gd name="adj" fmla="val 7169"/>
            </a:avLst>
          </a:prstGeom>
          <a:solidFill>
            <a:srgbClr val="FDFCF8"/>
          </a:solidFill>
          <a:ln w="6350">
            <a:solidFill>
              <a:srgbClr val="E2DFD3"/>
            </a:solidFill>
            <a:prstDash val="solid"/>
          </a:ln>
        </p:spPr>
        <p:txBody>
          <a:bodyPr/>
          <a:lstStyle/>
          <a:p>
            <a:endParaRPr lang="en-PK"/>
          </a:p>
        </p:txBody>
      </p:sp>
      <p:sp>
        <p:nvSpPr>
          <p:cNvPr id="9" name="Text 6"/>
          <p:cNvSpPr/>
          <p:nvPr/>
        </p:nvSpPr>
        <p:spPr>
          <a:xfrm>
            <a:off x="3779520" y="2037080"/>
            <a:ext cx="191505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Lexer</a:t>
            </a:r>
            <a:endParaRPr lang="en-US" sz="1600" dirty="0"/>
          </a:p>
        </p:txBody>
      </p:sp>
      <p:sp>
        <p:nvSpPr>
          <p:cNvPr id="10" name="Text 7"/>
          <p:cNvSpPr/>
          <p:nvPr/>
        </p:nvSpPr>
        <p:spPr>
          <a:xfrm>
            <a:off x="3779520" y="2357120"/>
            <a:ext cx="191505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Phase 1 table-driven DFA, now with the comma</a:t>
            </a:r>
            <a:endParaRPr lang="en-US" sz="1300" dirty="0"/>
          </a:p>
        </p:txBody>
      </p:sp>
      <p:pic>
        <p:nvPicPr>
          <p:cNvPr id="11" name="Image 1" descr="arrow-right"/>
          <p:cNvPicPr>
            <a:picLocks noChangeAspect="1"/>
          </p:cNvPicPr>
          <p:nvPr/>
        </p:nvPicPr>
        <p:blipFill>
          <a:blip r:embed="rId3"/>
          <a:srcRect/>
          <a:stretch/>
        </p:blipFill>
        <p:spPr>
          <a:xfrm>
            <a:off x="5923280" y="2416810"/>
            <a:ext cx="355600" cy="254000"/>
          </a:xfrm>
          <a:prstGeom prst="rect">
            <a:avLst/>
          </a:prstGeom>
        </p:spPr>
      </p:pic>
      <p:sp>
        <p:nvSpPr>
          <p:cNvPr id="12" name="Shape 8"/>
          <p:cNvSpPr/>
          <p:nvPr/>
        </p:nvSpPr>
        <p:spPr>
          <a:xfrm>
            <a:off x="6383655" y="1857375"/>
            <a:ext cx="2218690" cy="1372870"/>
          </a:xfrm>
          <a:prstGeom prst="roundRect">
            <a:avLst>
              <a:gd name="adj" fmla="val 7169"/>
            </a:avLst>
          </a:prstGeom>
          <a:solidFill>
            <a:srgbClr val="FDFCF8"/>
          </a:solidFill>
          <a:ln w="6350">
            <a:solidFill>
              <a:srgbClr val="E2DFD3"/>
            </a:solidFill>
            <a:prstDash val="solid"/>
          </a:ln>
        </p:spPr>
        <p:txBody>
          <a:bodyPr/>
          <a:lstStyle/>
          <a:p>
            <a:endParaRPr lang="en-PK"/>
          </a:p>
        </p:txBody>
      </p:sp>
      <p:sp>
        <p:nvSpPr>
          <p:cNvPr id="13" name="Text 9"/>
          <p:cNvSpPr/>
          <p:nvPr/>
        </p:nvSpPr>
        <p:spPr>
          <a:xfrm>
            <a:off x="6563360" y="2037080"/>
            <a:ext cx="191505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Token.txt</a:t>
            </a:r>
            <a:endParaRPr lang="en-US" sz="1600" dirty="0"/>
          </a:p>
        </p:txBody>
      </p:sp>
      <p:sp>
        <p:nvSpPr>
          <p:cNvPr id="14" name="Text 10"/>
          <p:cNvSpPr/>
          <p:nvPr/>
        </p:nvSpPr>
        <p:spPr>
          <a:xfrm>
            <a:off x="6563360" y="2357120"/>
            <a:ext cx="191505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One line per token, plus line and column positions</a:t>
            </a:r>
            <a:endParaRPr lang="en-US" sz="1300" dirty="0"/>
          </a:p>
        </p:txBody>
      </p:sp>
      <p:pic>
        <p:nvPicPr>
          <p:cNvPr id="15" name="Image 2" descr="arrow-right"/>
          <p:cNvPicPr>
            <a:picLocks noChangeAspect="1"/>
          </p:cNvPicPr>
          <p:nvPr/>
        </p:nvPicPr>
        <p:blipFill>
          <a:blip r:embed="rId3"/>
          <a:srcRect/>
          <a:stretch/>
        </p:blipFill>
        <p:spPr>
          <a:xfrm>
            <a:off x="8707120" y="2416810"/>
            <a:ext cx="355600" cy="254000"/>
          </a:xfrm>
          <a:prstGeom prst="rect">
            <a:avLst/>
          </a:prstGeom>
        </p:spPr>
      </p:pic>
      <p:sp>
        <p:nvSpPr>
          <p:cNvPr id="16" name="Shape 11"/>
          <p:cNvSpPr/>
          <p:nvPr/>
        </p:nvSpPr>
        <p:spPr>
          <a:xfrm>
            <a:off x="9164320" y="1974850"/>
            <a:ext cx="2214880" cy="1137920"/>
          </a:xfrm>
          <a:prstGeom prst="roundRect">
            <a:avLst>
              <a:gd name="adj" fmla="val 8929"/>
            </a:avLst>
          </a:prstGeom>
          <a:solidFill>
            <a:srgbClr val="0F1B33"/>
          </a:solidFill>
          <a:ln/>
        </p:spPr>
        <p:txBody>
          <a:bodyPr/>
          <a:lstStyle/>
          <a:p>
            <a:endParaRPr lang="en-PK"/>
          </a:p>
        </p:txBody>
      </p:sp>
      <p:sp>
        <p:nvSpPr>
          <p:cNvPr id="17" name="Text 12"/>
          <p:cNvSpPr/>
          <p:nvPr/>
        </p:nvSpPr>
        <p:spPr>
          <a:xfrm>
            <a:off x="9342120" y="2152650"/>
            <a:ext cx="191505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DM Sans" pitchFamily="34" charset="0"/>
                <a:ea typeface="DM Sans" pitchFamily="34" charset="-122"/>
                <a:cs typeface="DM Sans" pitchFamily="34" charset="-120"/>
              </a:rPr>
              <a:t>LL(1) parser</a:t>
            </a:r>
            <a:endParaRPr lang="en-US" sz="1600" dirty="0"/>
          </a:p>
        </p:txBody>
      </p:sp>
      <p:sp>
        <p:nvSpPr>
          <p:cNvPr id="18" name="Text 13"/>
          <p:cNvSpPr/>
          <p:nvPr/>
        </p:nvSpPr>
        <p:spPr>
          <a:xfrm>
            <a:off x="9342120" y="2472690"/>
            <a:ext cx="191505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3D9"/>
                </a:solidFill>
                <a:latin typeface="DM Sans" pitchFamily="34" charset="0"/>
                <a:ea typeface="DM Sans" pitchFamily="34" charset="-122"/>
                <a:cs typeface="DM Sans" pitchFamily="34" charset="-120"/>
              </a:rPr>
              <a:t>Stack plus table M, SCAN and POP recovery</a:t>
            </a:r>
            <a:endParaRPr lang="en-US" sz="1300" dirty="0"/>
          </a:p>
        </p:txBody>
      </p:sp>
      <p:sp>
        <p:nvSpPr>
          <p:cNvPr id="19" name="Text 14"/>
          <p:cNvSpPr/>
          <p:nvPr/>
        </p:nvSpPr>
        <p:spPr>
          <a:xfrm>
            <a:off x="812800" y="353822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33"/>
                </a:solidFill>
                <a:latin typeface="DM Sans" pitchFamily="34" charset="0"/>
                <a:ea typeface="DM Sans" pitchFamily="34" charset="-122"/>
                <a:cs typeface="DM Sans" pitchFamily="34" charset="-120"/>
              </a:rPr>
              <a:t>Files written on every run</a:t>
            </a:r>
            <a:endParaRPr lang="en-US" sz="1400" dirty="0"/>
          </a:p>
        </p:txBody>
      </p:sp>
      <p:sp>
        <p:nvSpPr>
          <p:cNvPr id="20" name="Text 15"/>
          <p:cNvSpPr/>
          <p:nvPr/>
        </p:nvSpPr>
        <p:spPr>
          <a:xfrm>
            <a:off x="812800" y="3914140"/>
            <a:ext cx="1264920" cy="426720"/>
          </a:xfrm>
          <a:prstGeom prst="roundRect">
            <a:avLst>
              <a:gd name="adj" fmla="val 17857"/>
            </a:avLst>
          </a:prstGeom>
          <a:solidFill>
            <a:srgbClr val="E8E6DA"/>
          </a:solidFill>
          <a:ln/>
        </p:spPr>
        <p:txBody>
          <a:bodyPr wrap="none" lIns="0" tIns="0" rIns="0" bIns="0" rtlCol="0" anchor="ctr">
            <a:normAutofit/>
          </a:bodyPr>
          <a:lstStyle/>
          <a:p>
            <a:pPr marL="0" indent="0" algn="ctr">
              <a:lnSpc>
                <a:spcPts val="1960"/>
              </a:lnSpc>
              <a:buNone/>
            </a:pPr>
            <a:r>
              <a:rPr lang="en-US" sz="1400" dirty="0">
                <a:solidFill>
                  <a:srgbClr val="0F1B33"/>
                </a:solidFill>
                <a:latin typeface="JetBrains Mono" pitchFamily="49" charset="0"/>
                <a:ea typeface="JetBrains Mono" pitchFamily="49" charset="-122"/>
                <a:cs typeface="JetBrains Mono" pitchFamily="49" charset="-120"/>
              </a:rPr>
              <a:t>Error.txt</a:t>
            </a:r>
            <a:endParaRPr lang="en-US" sz="1400" dirty="0"/>
          </a:p>
        </p:txBody>
      </p:sp>
      <p:sp>
        <p:nvSpPr>
          <p:cNvPr id="21" name="Text 16"/>
          <p:cNvSpPr/>
          <p:nvPr/>
        </p:nvSpPr>
        <p:spPr>
          <a:xfrm>
            <a:off x="2230120" y="3914140"/>
            <a:ext cx="1798320" cy="426720"/>
          </a:xfrm>
          <a:prstGeom prst="roundRect">
            <a:avLst>
              <a:gd name="adj" fmla="val 17857"/>
            </a:avLst>
          </a:prstGeom>
          <a:solidFill>
            <a:srgbClr val="E8E6DA"/>
          </a:solidFill>
          <a:ln/>
        </p:spPr>
        <p:txBody>
          <a:bodyPr wrap="none" lIns="0" tIns="0" rIns="0" bIns="0" rtlCol="0" anchor="ctr">
            <a:normAutofit/>
          </a:bodyPr>
          <a:lstStyle/>
          <a:p>
            <a:pPr marL="0" indent="0" algn="ctr">
              <a:lnSpc>
                <a:spcPts val="1960"/>
              </a:lnSpc>
              <a:buNone/>
            </a:pPr>
            <a:r>
              <a:rPr lang="en-US" sz="1400" dirty="0">
                <a:solidFill>
                  <a:srgbClr val="0F1B33"/>
                </a:solidFill>
                <a:latin typeface="JetBrains Mono" pitchFamily="49" charset="0"/>
                <a:ea typeface="JetBrains Mono" pitchFamily="49" charset="-122"/>
                <a:cs typeface="JetBrains Mono" pitchFamily="49" charset="-120"/>
              </a:rPr>
              <a:t>ParseTrace.txt</a:t>
            </a:r>
            <a:endParaRPr lang="en-US" sz="1400" dirty="0"/>
          </a:p>
        </p:txBody>
      </p:sp>
      <p:sp>
        <p:nvSpPr>
          <p:cNvPr id="22" name="Text 17"/>
          <p:cNvSpPr/>
          <p:nvPr/>
        </p:nvSpPr>
        <p:spPr>
          <a:xfrm>
            <a:off x="4180840" y="3914140"/>
            <a:ext cx="2011680" cy="426720"/>
          </a:xfrm>
          <a:prstGeom prst="roundRect">
            <a:avLst>
              <a:gd name="adj" fmla="val 17857"/>
            </a:avLst>
          </a:prstGeom>
          <a:solidFill>
            <a:srgbClr val="E8E6DA"/>
          </a:solidFill>
          <a:ln/>
        </p:spPr>
        <p:txBody>
          <a:bodyPr wrap="none" lIns="0" tIns="0" rIns="0" bIns="0" rtlCol="0" anchor="ctr">
            <a:normAutofit/>
          </a:bodyPr>
          <a:lstStyle/>
          <a:p>
            <a:pPr marL="0" indent="0" algn="ctr">
              <a:lnSpc>
                <a:spcPts val="1960"/>
              </a:lnSpc>
              <a:buNone/>
            </a:pPr>
            <a:r>
              <a:rPr lang="en-US" sz="1400" dirty="0">
                <a:solidFill>
                  <a:srgbClr val="0F1B33"/>
                </a:solidFill>
                <a:latin typeface="JetBrains Mono" pitchFamily="49" charset="0"/>
                <a:ea typeface="JetBrains Mono" pitchFamily="49" charset="-122"/>
                <a:cs typeface="JetBrains Mono" pitchFamily="49" charset="-120"/>
              </a:rPr>
              <a:t>SyntaxErrors.txt</a:t>
            </a:r>
            <a:endParaRPr lang="en-US" sz="1400" dirty="0"/>
          </a:p>
        </p:txBody>
      </p:sp>
      <p:sp>
        <p:nvSpPr>
          <p:cNvPr id="23" name="Text 18"/>
          <p:cNvSpPr/>
          <p:nvPr/>
        </p:nvSpPr>
        <p:spPr>
          <a:xfrm>
            <a:off x="6344920" y="3914140"/>
            <a:ext cx="1905000" cy="426720"/>
          </a:xfrm>
          <a:prstGeom prst="roundRect">
            <a:avLst>
              <a:gd name="adj" fmla="val 17857"/>
            </a:avLst>
          </a:prstGeom>
          <a:solidFill>
            <a:srgbClr val="E8E6DA"/>
          </a:solidFill>
          <a:ln/>
        </p:spPr>
        <p:txBody>
          <a:bodyPr wrap="none" lIns="0" tIns="0" rIns="0" bIns="0" rtlCol="0" anchor="ctr">
            <a:normAutofit/>
          </a:bodyPr>
          <a:lstStyle/>
          <a:p>
            <a:pPr marL="0" indent="0" algn="ctr">
              <a:lnSpc>
                <a:spcPts val="1960"/>
              </a:lnSpc>
              <a:buNone/>
            </a:pPr>
            <a:r>
              <a:rPr lang="en-US" sz="1400" dirty="0">
                <a:solidFill>
                  <a:srgbClr val="0F1B33"/>
                </a:solidFill>
                <a:latin typeface="JetBrains Mono" pitchFamily="49" charset="0"/>
                <a:ea typeface="JetBrains Mono" pitchFamily="49" charset="-122"/>
                <a:cs typeface="JetBrains Mono" pitchFamily="49" charset="-120"/>
              </a:rPr>
              <a:t>ParseResult.txt</a:t>
            </a:r>
            <a:endParaRPr lang="en-US" sz="1400" dirty="0"/>
          </a:p>
        </p:txBody>
      </p:sp>
      <p:sp>
        <p:nvSpPr>
          <p:cNvPr id="24" name="Text 19"/>
          <p:cNvSpPr/>
          <p:nvPr/>
        </p:nvSpPr>
        <p:spPr>
          <a:xfrm>
            <a:off x="8402320" y="3914140"/>
            <a:ext cx="2011680" cy="426720"/>
          </a:xfrm>
          <a:prstGeom prst="roundRect">
            <a:avLst>
              <a:gd name="adj" fmla="val 17857"/>
            </a:avLst>
          </a:prstGeom>
          <a:solidFill>
            <a:srgbClr val="E8E6DA"/>
          </a:solidFill>
          <a:ln/>
        </p:spPr>
        <p:txBody>
          <a:bodyPr wrap="none" lIns="0" tIns="0" rIns="0" bIns="0" rtlCol="0" anchor="ctr">
            <a:normAutofit/>
          </a:bodyPr>
          <a:lstStyle/>
          <a:p>
            <a:pPr marL="0" indent="0" algn="ctr">
              <a:lnSpc>
                <a:spcPts val="1960"/>
              </a:lnSpc>
              <a:buNone/>
            </a:pPr>
            <a:r>
              <a:rPr lang="en-US" sz="1400" dirty="0">
                <a:solidFill>
                  <a:srgbClr val="0F1B33"/>
                </a:solidFill>
                <a:latin typeface="JetBrains Mono" pitchFamily="49" charset="0"/>
                <a:ea typeface="JetBrains Mono" pitchFamily="49" charset="-122"/>
                <a:cs typeface="JetBrains Mono" pitchFamily="49" charset="-120"/>
              </a:rPr>
              <a:t>ParsingTable.txt</a:t>
            </a:r>
            <a:endParaRPr lang="en-US" sz="1400" dirty="0"/>
          </a:p>
        </p:txBody>
      </p:sp>
      <p:sp>
        <p:nvSpPr>
          <p:cNvPr id="25" name="Text 20"/>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26" name="Text 21"/>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GRAMMAR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Phase 1 update: the comma</a:t>
            </a:r>
            <a:endParaRPr lang="en-US" sz="3200" dirty="0"/>
          </a:p>
        </p:txBody>
      </p:sp>
      <p:sp>
        <p:nvSpPr>
          <p:cNvPr id="4" name="Shape 2"/>
          <p:cNvSpPr/>
          <p:nvPr/>
        </p:nvSpPr>
        <p:spPr>
          <a:xfrm>
            <a:off x="812800" y="1854200"/>
            <a:ext cx="4064000" cy="1953260"/>
          </a:xfrm>
          <a:prstGeom prst="roundRect">
            <a:avLst>
              <a:gd name="adj" fmla="val 5202"/>
            </a:avLst>
          </a:prstGeom>
          <a:solidFill>
            <a:srgbClr val="0F1B33"/>
          </a:solidFill>
          <a:ln/>
        </p:spPr>
        <p:txBody>
          <a:bodyPr/>
          <a:lstStyle/>
          <a:p>
            <a:endParaRPr lang="en-PK"/>
          </a:p>
        </p:txBody>
      </p:sp>
      <p:sp>
        <p:nvSpPr>
          <p:cNvPr id="5" name="Text 3"/>
          <p:cNvSpPr/>
          <p:nvPr/>
        </p:nvSpPr>
        <p:spPr>
          <a:xfrm>
            <a:off x="1016000" y="2057400"/>
            <a:ext cx="376732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134"/>
                </a:solidFill>
                <a:latin typeface="DM Sans" pitchFamily="34" charset="0"/>
                <a:ea typeface="DM Sans" pitchFamily="34" charset="-122"/>
                <a:cs typeface="DM Sans" pitchFamily="34" charset="-120"/>
              </a:rPr>
              <a:t>GET_CHAR_CLASS()</a:t>
            </a:r>
            <a:endParaRPr lang="en-US" sz="1200" dirty="0"/>
          </a:p>
        </p:txBody>
      </p:sp>
      <p:sp>
        <p:nvSpPr>
          <p:cNvPr id="6" name="Text 4"/>
          <p:cNvSpPr/>
          <p:nvPr/>
        </p:nvSpPr>
        <p:spPr>
          <a:xfrm>
            <a:off x="1016000" y="2308861"/>
            <a:ext cx="3767328"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if (c == '[' || c == ']' ||</a:t>
            </a:r>
            <a:endParaRPr lang="en-US" sz="1200" dirty="0"/>
          </a:p>
        </p:txBody>
      </p:sp>
      <p:sp>
        <p:nvSpPr>
          <p:cNvPr id="7" name="Text 5"/>
          <p:cNvSpPr/>
          <p:nvPr/>
        </p:nvSpPr>
        <p:spPr>
          <a:xfrm>
            <a:off x="1016000" y="2575561"/>
            <a:ext cx="3767328"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c == '{' || c == '}' ||</a:t>
            </a:r>
            <a:endParaRPr lang="en-US" sz="1200" dirty="0"/>
          </a:p>
        </p:txBody>
      </p:sp>
      <p:sp>
        <p:nvSpPr>
          <p:cNvPr id="8" name="Text 6"/>
          <p:cNvSpPr/>
          <p:nvPr/>
        </p:nvSpPr>
        <p:spPr>
          <a:xfrm>
            <a:off x="1016000" y="2842261"/>
            <a:ext cx="3767328"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c == '(' || c == ')' ||</a:t>
            </a:r>
            <a:endParaRPr lang="en-US" sz="1200" dirty="0"/>
          </a:p>
        </p:txBody>
      </p:sp>
      <p:sp>
        <p:nvSpPr>
          <p:cNvPr id="9" name="Text 7"/>
          <p:cNvSpPr/>
          <p:nvPr/>
        </p:nvSpPr>
        <p:spPr>
          <a:xfrm>
            <a:off x="1016000" y="3108961"/>
            <a:ext cx="3767328"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2B134"/>
                </a:solidFill>
                <a:latin typeface="JetBrains Mono" pitchFamily="49" charset="0"/>
                <a:ea typeface="JetBrains Mono" pitchFamily="49" charset="-122"/>
                <a:cs typeface="JetBrains Mono" pitchFamily="49" charset="-120"/>
              </a:rPr>
              <a:t>c == ',') // added</a:t>
            </a:r>
            <a:endParaRPr lang="en-US" sz="1200" dirty="0"/>
          </a:p>
        </p:txBody>
      </p:sp>
      <p:sp>
        <p:nvSpPr>
          <p:cNvPr id="10" name="Text 8"/>
          <p:cNvSpPr/>
          <p:nvPr/>
        </p:nvSpPr>
        <p:spPr>
          <a:xfrm>
            <a:off x="1016000" y="3375661"/>
            <a:ext cx="3767328"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return CC_PUNC;</a:t>
            </a:r>
            <a:endParaRPr lang="en-US" sz="1200" dirty="0"/>
          </a:p>
        </p:txBody>
      </p:sp>
      <p:sp>
        <p:nvSpPr>
          <p:cNvPr id="11" name="Shape 9"/>
          <p:cNvSpPr/>
          <p:nvPr/>
        </p:nvSpPr>
        <p:spPr>
          <a:xfrm>
            <a:off x="815975" y="3963036"/>
            <a:ext cx="4057650" cy="1197610"/>
          </a:xfrm>
          <a:prstGeom prst="roundRect">
            <a:avLst>
              <a:gd name="adj" fmla="val 8218"/>
            </a:avLst>
          </a:prstGeom>
          <a:solidFill>
            <a:srgbClr val="FDFCF8"/>
          </a:solidFill>
          <a:ln w="6350">
            <a:solidFill>
              <a:srgbClr val="E2DFD3"/>
            </a:solidFill>
            <a:prstDash val="solid"/>
          </a:ln>
        </p:spPr>
        <p:txBody>
          <a:bodyPr/>
          <a:lstStyle/>
          <a:p>
            <a:endParaRPr lang="en-PK"/>
          </a:p>
        </p:txBody>
      </p:sp>
      <p:sp>
        <p:nvSpPr>
          <p:cNvPr id="12" name="Text 10"/>
          <p:cNvSpPr/>
          <p:nvPr/>
        </p:nvSpPr>
        <p:spPr>
          <a:xfrm>
            <a:off x="995680" y="4142741"/>
            <a:ext cx="380918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Token.txt now shows the comma as</a:t>
            </a:r>
            <a:endParaRPr lang="en-US" sz="1300" dirty="0"/>
          </a:p>
        </p:txBody>
      </p:sp>
      <p:sp>
        <p:nvSpPr>
          <p:cNvPr id="13" name="Text 11"/>
          <p:cNvSpPr/>
          <p:nvPr/>
        </p:nvSpPr>
        <p:spPr>
          <a:xfrm>
            <a:off x="995680" y="4437380"/>
            <a:ext cx="380918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&lt; PUNCTUATION, , &gt;</a:t>
            </a:r>
            <a:endParaRPr lang="en-US" sz="1400" dirty="0"/>
          </a:p>
        </p:txBody>
      </p:sp>
      <p:sp>
        <p:nvSpPr>
          <p:cNvPr id="14" name="Text 12"/>
          <p:cNvSpPr/>
          <p:nvPr/>
        </p:nvSpPr>
        <p:spPr>
          <a:xfrm>
            <a:off x="995680" y="4749800"/>
            <a:ext cx="380918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Before, it was a lexical error.</a:t>
            </a:r>
            <a:endParaRPr lang="en-US" sz="1300" dirty="0"/>
          </a:p>
        </p:txBody>
      </p:sp>
      <p:sp>
        <p:nvSpPr>
          <p:cNvPr id="15" name="Text 13"/>
          <p:cNvSpPr/>
          <p:nvPr/>
        </p:nvSpPr>
        <p:spPr>
          <a:xfrm>
            <a:off x="5181600" y="1854200"/>
            <a:ext cx="638352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33"/>
                </a:solidFill>
                <a:latin typeface="DM Sans" pitchFamily="34" charset="0"/>
                <a:ea typeface="DM Sans" pitchFamily="34" charset="-122"/>
                <a:cs typeface="DM Sans" pitchFamily="34" charset="-120"/>
              </a:rPr>
              <a:t>Token class to grammar terminal</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191760" y="2214880"/>
          <a:ext cx="6187440" cy="2524760"/>
        </p:xfrm>
        <a:graphic>
          <a:graphicData uri="http://schemas.openxmlformats.org/drawingml/2006/table">
            <a:tbl>
              <a:tblPr/>
              <a:tblGrid>
                <a:gridCol w="1608734">
                  <a:extLst>
                    <a:ext uri="{9D8B030D-6E8A-4147-A177-3AD203B41FA5}">
                      <a16:colId xmlns:a16="http://schemas.microsoft.com/office/drawing/2014/main" val="20000"/>
                    </a:ext>
                  </a:extLst>
                </a:gridCol>
                <a:gridCol w="2722474">
                  <a:extLst>
                    <a:ext uri="{9D8B030D-6E8A-4147-A177-3AD203B41FA5}">
                      <a16:colId xmlns:a16="http://schemas.microsoft.com/office/drawing/2014/main" val="20001"/>
                    </a:ext>
                  </a:extLst>
                </a:gridCol>
                <a:gridCol w="1856232">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Phase 1 token</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Lexeme</a:t>
                      </a:r>
                      <a:endParaRPr lang="en-US" sz="1200" dirty="0">
                        <a:latin typeface="DM Sans" charset="0"/>
                        <a:ea typeface="DM Sans" charset="0"/>
                        <a:cs typeface="DM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Terminal</a:t>
                      </a:r>
                      <a:endParaRPr lang="en-US" sz="1200" dirty="0">
                        <a:latin typeface="DM Sans" charset="0"/>
                        <a:ea typeface="DM Sans" charset="0"/>
                        <a:cs typeface="DM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KEYWORD</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Adadi, Harf, for, while, Agar</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the keyword</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IDENTIFIER</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any name with “_”</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ID</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INTEGER, FLOAT, EXPONENTIAL</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any number</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NUM</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OPERATOR</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 == &lt; &gt; &lt;= &gt;= != &lt;&gt; + -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the operator</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PUNCTUATION</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 ) { }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the symbol</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Anything else</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Wapas, [ ], ++, quoted text</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other, always SCAN</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7" name="Text 14"/>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18" name="Text 1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GRAMMAR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Step 1: making the grammar LL(1)</a:t>
            </a:r>
            <a:endParaRPr lang="en-US" sz="3200" dirty="0"/>
          </a:p>
        </p:txBody>
      </p:sp>
      <p:sp>
        <p:nvSpPr>
          <p:cNvPr id="4" name="Shape 2"/>
          <p:cNvSpPr/>
          <p:nvPr/>
        </p:nvSpPr>
        <p:spPr>
          <a:xfrm>
            <a:off x="815975" y="1857375"/>
            <a:ext cx="5175250" cy="1532890"/>
          </a:xfrm>
          <a:prstGeom prst="roundRect">
            <a:avLst>
              <a:gd name="adj" fmla="val 6421"/>
            </a:avLst>
          </a:prstGeom>
          <a:solidFill>
            <a:srgbClr val="FDFCF8"/>
          </a:solidFill>
          <a:ln w="6350">
            <a:solidFill>
              <a:srgbClr val="E2DFD3"/>
            </a:solidFill>
            <a:prstDash val="solid"/>
          </a:ln>
        </p:spPr>
        <p:txBody>
          <a:bodyPr/>
          <a:lstStyle/>
          <a:p>
            <a:endParaRPr lang="en-PK"/>
          </a:p>
        </p:txBody>
      </p:sp>
      <p:sp>
        <p:nvSpPr>
          <p:cNvPr id="5" name="Text 3"/>
          <p:cNvSpPr/>
          <p:nvPr/>
        </p:nvSpPr>
        <p:spPr>
          <a:xfrm>
            <a:off x="1021080" y="206248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Common prefix “Adadi”</a:t>
            </a:r>
            <a:endParaRPr lang="en-US" sz="1600" dirty="0"/>
          </a:p>
        </p:txBody>
      </p:sp>
      <p:sp>
        <p:nvSpPr>
          <p:cNvPr id="6" name="Text 4"/>
          <p:cNvSpPr/>
          <p:nvPr/>
        </p:nvSpPr>
        <p:spPr>
          <a:xfrm>
            <a:off x="1021080" y="2369820"/>
            <a:ext cx="490799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Program → EntryPoint | Function</a:t>
            </a:r>
            <a:endParaRPr lang="en-US" sz="1300" dirty="0"/>
          </a:p>
        </p:txBody>
      </p:sp>
      <p:sp>
        <p:nvSpPr>
          <p:cNvPr id="7" name="Text 5"/>
          <p:cNvSpPr/>
          <p:nvPr/>
        </p:nvSpPr>
        <p:spPr>
          <a:xfrm>
            <a:off x="1021080" y="2664461"/>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Program → Adadi ProgTail</a:t>
            </a:r>
            <a:endParaRPr lang="en-US" sz="1200" dirty="0"/>
          </a:p>
        </p:txBody>
      </p:sp>
      <p:sp>
        <p:nvSpPr>
          <p:cNvPr id="8" name="Text 6"/>
          <p:cNvSpPr/>
          <p:nvPr/>
        </p:nvSpPr>
        <p:spPr>
          <a:xfrm>
            <a:off x="1021080" y="2956561"/>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ProgTail → Marqazi ( ) CompStmt | FuncRest</a:t>
            </a:r>
            <a:endParaRPr lang="en-US" sz="1200" dirty="0"/>
          </a:p>
        </p:txBody>
      </p:sp>
      <p:sp>
        <p:nvSpPr>
          <p:cNvPr id="9" name="Shape 7"/>
          <p:cNvSpPr/>
          <p:nvPr/>
        </p:nvSpPr>
        <p:spPr>
          <a:xfrm>
            <a:off x="6200775" y="1857375"/>
            <a:ext cx="5175250" cy="1532890"/>
          </a:xfrm>
          <a:prstGeom prst="roundRect">
            <a:avLst>
              <a:gd name="adj" fmla="val 6421"/>
            </a:avLst>
          </a:prstGeom>
          <a:solidFill>
            <a:srgbClr val="FDFCF8"/>
          </a:solidFill>
          <a:ln w="6350">
            <a:solidFill>
              <a:srgbClr val="E2DFD3"/>
            </a:solidFill>
            <a:prstDash val="solid"/>
          </a:ln>
        </p:spPr>
        <p:txBody>
          <a:bodyPr/>
          <a:lstStyle/>
          <a:p>
            <a:endParaRPr lang="en-PK"/>
          </a:p>
        </p:txBody>
      </p:sp>
      <p:sp>
        <p:nvSpPr>
          <p:cNvPr id="10" name="Text 8"/>
          <p:cNvSpPr/>
          <p:nvPr/>
        </p:nvSpPr>
        <p:spPr>
          <a:xfrm>
            <a:off x="6405880" y="206248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Left recursion</a:t>
            </a:r>
            <a:endParaRPr lang="en-US" sz="1600" dirty="0"/>
          </a:p>
        </p:txBody>
      </p:sp>
      <p:sp>
        <p:nvSpPr>
          <p:cNvPr id="11" name="Text 9"/>
          <p:cNvSpPr/>
          <p:nvPr/>
        </p:nvSpPr>
        <p:spPr>
          <a:xfrm>
            <a:off x="6405880" y="2369820"/>
            <a:ext cx="490799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ArgList, StmtList, Rvalue, Mag, Term</a:t>
            </a:r>
            <a:endParaRPr lang="en-US" sz="1300" dirty="0"/>
          </a:p>
        </p:txBody>
      </p:sp>
      <p:sp>
        <p:nvSpPr>
          <p:cNvPr id="12" name="Text 10"/>
          <p:cNvSpPr/>
          <p:nvPr/>
        </p:nvSpPr>
        <p:spPr>
          <a:xfrm>
            <a:off x="6405880" y="2664461"/>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A → A α | β becomes</a:t>
            </a:r>
            <a:endParaRPr lang="en-US" sz="1200" dirty="0"/>
          </a:p>
        </p:txBody>
      </p:sp>
      <p:sp>
        <p:nvSpPr>
          <p:cNvPr id="13" name="Text 11"/>
          <p:cNvSpPr/>
          <p:nvPr/>
        </p:nvSpPr>
        <p:spPr>
          <a:xfrm>
            <a:off x="6405880" y="2956561"/>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A → β A' A' → α A' | ε</a:t>
            </a:r>
            <a:endParaRPr lang="en-US" sz="1200" dirty="0"/>
          </a:p>
        </p:txBody>
      </p:sp>
      <p:sp>
        <p:nvSpPr>
          <p:cNvPr id="14" name="Shape 12"/>
          <p:cNvSpPr/>
          <p:nvPr/>
        </p:nvSpPr>
        <p:spPr>
          <a:xfrm>
            <a:off x="815975" y="3599816"/>
            <a:ext cx="5175250" cy="1532890"/>
          </a:xfrm>
          <a:prstGeom prst="roundRect">
            <a:avLst>
              <a:gd name="adj" fmla="val 6421"/>
            </a:avLst>
          </a:prstGeom>
          <a:solidFill>
            <a:srgbClr val="FDFCF8"/>
          </a:solidFill>
          <a:ln w="6350">
            <a:solidFill>
              <a:srgbClr val="E2DFD3"/>
            </a:solidFill>
            <a:prstDash val="solid"/>
          </a:ln>
        </p:spPr>
        <p:txBody>
          <a:bodyPr/>
          <a:lstStyle/>
          <a:p>
            <a:endParaRPr lang="en-PK"/>
          </a:p>
        </p:txBody>
      </p:sp>
      <p:sp>
        <p:nvSpPr>
          <p:cNvPr id="15" name="Text 13"/>
          <p:cNvSpPr/>
          <p:nvPr/>
        </p:nvSpPr>
        <p:spPr>
          <a:xfrm>
            <a:off x="1021080" y="380492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Common prefix ID</a:t>
            </a:r>
            <a:endParaRPr lang="en-US" sz="1600" dirty="0"/>
          </a:p>
        </p:txBody>
      </p:sp>
      <p:sp>
        <p:nvSpPr>
          <p:cNvPr id="16" name="Text 14"/>
          <p:cNvSpPr/>
          <p:nvPr/>
        </p:nvSpPr>
        <p:spPr>
          <a:xfrm>
            <a:off x="1021080" y="4112261"/>
            <a:ext cx="490799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IdentList → ID , IdentList | ID</a:t>
            </a:r>
            <a:endParaRPr lang="en-US" sz="1300" dirty="0"/>
          </a:p>
        </p:txBody>
      </p:sp>
      <p:sp>
        <p:nvSpPr>
          <p:cNvPr id="17" name="Text 15"/>
          <p:cNvSpPr/>
          <p:nvPr/>
        </p:nvSpPr>
        <p:spPr>
          <a:xfrm>
            <a:off x="1021080" y="4406900"/>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IdentList → ID IdentList'</a:t>
            </a:r>
            <a:endParaRPr lang="en-US" sz="1200" dirty="0"/>
          </a:p>
        </p:txBody>
      </p:sp>
      <p:sp>
        <p:nvSpPr>
          <p:cNvPr id="18" name="Text 16"/>
          <p:cNvSpPr/>
          <p:nvPr/>
        </p:nvSpPr>
        <p:spPr>
          <a:xfrm>
            <a:off x="1021080" y="4699000"/>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IdentList' → , IdentList | ε</a:t>
            </a:r>
            <a:endParaRPr lang="en-US" sz="1200" dirty="0"/>
          </a:p>
        </p:txBody>
      </p:sp>
      <p:sp>
        <p:nvSpPr>
          <p:cNvPr id="19" name="Shape 17"/>
          <p:cNvSpPr/>
          <p:nvPr/>
        </p:nvSpPr>
        <p:spPr>
          <a:xfrm>
            <a:off x="6200775" y="3599816"/>
            <a:ext cx="5175250" cy="1532890"/>
          </a:xfrm>
          <a:prstGeom prst="roundRect">
            <a:avLst>
              <a:gd name="adj" fmla="val 6421"/>
            </a:avLst>
          </a:prstGeom>
          <a:solidFill>
            <a:srgbClr val="FDFCF8"/>
          </a:solidFill>
          <a:ln w="6350">
            <a:solidFill>
              <a:srgbClr val="E2DFD3"/>
            </a:solidFill>
            <a:prstDash val="solid"/>
          </a:ln>
        </p:spPr>
        <p:txBody>
          <a:bodyPr/>
          <a:lstStyle/>
          <a:p>
            <a:endParaRPr lang="en-PK"/>
          </a:p>
        </p:txBody>
      </p:sp>
      <p:sp>
        <p:nvSpPr>
          <p:cNvPr id="20" name="Text 18"/>
          <p:cNvSpPr/>
          <p:nvPr/>
        </p:nvSpPr>
        <p:spPr>
          <a:xfrm>
            <a:off x="6405880" y="380492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DM Sans" pitchFamily="34" charset="0"/>
                <a:ea typeface="DM Sans" pitchFamily="34" charset="-122"/>
                <a:cs typeface="DM Sans" pitchFamily="34" charset="-120"/>
              </a:rPr>
              <a:t>Hidden prefix ID</a:t>
            </a:r>
            <a:endParaRPr lang="en-US" sz="1600" dirty="0"/>
          </a:p>
        </p:txBody>
      </p:sp>
      <p:sp>
        <p:nvSpPr>
          <p:cNvPr id="21" name="Text 19"/>
          <p:cNvSpPr/>
          <p:nvPr/>
        </p:nvSpPr>
        <p:spPr>
          <a:xfrm>
            <a:off x="6405880" y="4112261"/>
            <a:ext cx="490799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Expr → ID := Expr | Rvalue, and Rvalue ⇒* ID …</a:t>
            </a:r>
            <a:endParaRPr lang="en-US" sz="1300" dirty="0"/>
          </a:p>
        </p:txBody>
      </p:sp>
      <p:sp>
        <p:nvSpPr>
          <p:cNvPr id="22" name="Text 20"/>
          <p:cNvSpPr/>
          <p:nvPr/>
        </p:nvSpPr>
        <p:spPr>
          <a:xfrm>
            <a:off x="6405880" y="4406900"/>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Expr → ID ExprRest | NUM RvTail</a:t>
            </a:r>
            <a:endParaRPr lang="en-US" sz="1200" dirty="0"/>
          </a:p>
        </p:txBody>
      </p:sp>
      <p:sp>
        <p:nvSpPr>
          <p:cNvPr id="23" name="Text 21"/>
          <p:cNvSpPr/>
          <p:nvPr/>
        </p:nvSpPr>
        <p:spPr>
          <a:xfrm>
            <a:off x="6405880" y="4699000"/>
            <a:ext cx="4907991"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5BD7"/>
                </a:solidFill>
                <a:latin typeface="JetBrains Mono" pitchFamily="49" charset="0"/>
                <a:ea typeface="JetBrains Mono" pitchFamily="49" charset="-122"/>
                <a:cs typeface="JetBrains Mono" pitchFamily="49" charset="-120"/>
              </a:rPr>
              <a:t>| ( Expr ) RvTail</a:t>
            </a:r>
            <a:endParaRPr lang="en-US" sz="1200" dirty="0"/>
          </a:p>
        </p:txBody>
      </p:sp>
      <p:sp>
        <p:nvSpPr>
          <p:cNvPr id="24" name="Text 22"/>
          <p:cNvSpPr/>
          <p:nvPr/>
        </p:nvSpPr>
        <p:spPr>
          <a:xfrm>
            <a:off x="812800" y="5440682"/>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B33"/>
                </a:solidFill>
                <a:latin typeface="DM Sans" pitchFamily="34" charset="0"/>
                <a:ea typeface="DM Sans" pitchFamily="34" charset="-122"/>
                <a:cs typeface="DM Sans" pitchFamily="34" charset="-120"/>
              </a:rPr>
              <a:t>Result: 64 productions, 28 non-terminals, no table box with two productions.</a:t>
            </a:r>
            <a:endParaRPr lang="en-US" sz="1600" dirty="0"/>
          </a:p>
        </p:txBody>
      </p:sp>
      <p:sp>
        <p:nvSpPr>
          <p:cNvPr id="25" name="Text 23"/>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26" name="Text 2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GRAMMAR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The expression grammar after conversion</a:t>
            </a:r>
            <a:endParaRPr lang="en-US" sz="3200" dirty="0"/>
          </a:p>
        </p:txBody>
      </p:sp>
      <p:sp>
        <p:nvSpPr>
          <p:cNvPr id="4" name="Shape 2"/>
          <p:cNvSpPr/>
          <p:nvPr/>
        </p:nvSpPr>
        <p:spPr>
          <a:xfrm>
            <a:off x="812800" y="1854200"/>
            <a:ext cx="5842000" cy="3571240"/>
          </a:xfrm>
          <a:prstGeom prst="roundRect">
            <a:avLst>
              <a:gd name="adj" fmla="val 2845"/>
            </a:avLst>
          </a:prstGeom>
          <a:solidFill>
            <a:srgbClr val="0F1B33"/>
          </a:solidFill>
          <a:ln/>
        </p:spPr>
        <p:txBody>
          <a:bodyPr/>
          <a:lstStyle/>
          <a:p>
            <a:endParaRPr lang="en-PK"/>
          </a:p>
        </p:txBody>
      </p:sp>
      <p:sp>
        <p:nvSpPr>
          <p:cNvPr id="5" name="Text 3"/>
          <p:cNvSpPr/>
          <p:nvPr/>
        </p:nvSpPr>
        <p:spPr>
          <a:xfrm>
            <a:off x="1066800" y="2082800"/>
            <a:ext cx="11303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Expr</a:t>
            </a:r>
            <a:endParaRPr lang="en-US" sz="1300" dirty="0"/>
          </a:p>
        </p:txBody>
      </p:sp>
      <p:sp>
        <p:nvSpPr>
          <p:cNvPr id="6" name="Text 4"/>
          <p:cNvSpPr/>
          <p:nvPr/>
        </p:nvSpPr>
        <p:spPr>
          <a:xfrm>
            <a:off x="2247900" y="2082800"/>
            <a:ext cx="427748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ID ExprRest | NUM RvTail | ( Expr ) RvTail</a:t>
            </a:r>
            <a:endParaRPr lang="en-US" sz="1300" dirty="0"/>
          </a:p>
        </p:txBody>
      </p:sp>
      <p:sp>
        <p:nvSpPr>
          <p:cNvPr id="7" name="Text 5"/>
          <p:cNvSpPr/>
          <p:nvPr/>
        </p:nvSpPr>
        <p:spPr>
          <a:xfrm>
            <a:off x="1066800" y="2608582"/>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ExprRest</a:t>
            </a:r>
            <a:endParaRPr lang="en-US" sz="1300" dirty="0"/>
          </a:p>
        </p:txBody>
      </p:sp>
      <p:sp>
        <p:nvSpPr>
          <p:cNvPr id="8" name="Text 6"/>
          <p:cNvSpPr/>
          <p:nvPr/>
        </p:nvSpPr>
        <p:spPr>
          <a:xfrm>
            <a:off x="2247900" y="2608582"/>
            <a:ext cx="213979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 Expr | RvTail</a:t>
            </a:r>
            <a:endParaRPr lang="en-US" sz="1300" dirty="0"/>
          </a:p>
        </p:txBody>
      </p:sp>
      <p:sp>
        <p:nvSpPr>
          <p:cNvPr id="9" name="Text 7"/>
          <p:cNvSpPr/>
          <p:nvPr/>
        </p:nvSpPr>
        <p:spPr>
          <a:xfrm>
            <a:off x="1066800" y="2903221"/>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RvTail</a:t>
            </a:r>
            <a:endParaRPr lang="en-US" sz="1300" dirty="0"/>
          </a:p>
        </p:txBody>
      </p:sp>
      <p:sp>
        <p:nvSpPr>
          <p:cNvPr id="10" name="Text 8"/>
          <p:cNvSpPr/>
          <p:nvPr/>
        </p:nvSpPr>
        <p:spPr>
          <a:xfrm>
            <a:off x="2247900" y="2903221"/>
            <a:ext cx="237753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Term' Mag' Rvalue'</a:t>
            </a:r>
            <a:endParaRPr lang="en-US" sz="1300" dirty="0"/>
          </a:p>
        </p:txBody>
      </p:sp>
      <p:sp>
        <p:nvSpPr>
          <p:cNvPr id="11" name="Text 9"/>
          <p:cNvSpPr/>
          <p:nvPr/>
        </p:nvSpPr>
        <p:spPr>
          <a:xfrm>
            <a:off x="1066800" y="3197861"/>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Rvalue'</a:t>
            </a:r>
            <a:endParaRPr lang="en-US" sz="1300" dirty="0"/>
          </a:p>
        </p:txBody>
      </p:sp>
      <p:sp>
        <p:nvSpPr>
          <p:cNvPr id="12" name="Text 10"/>
          <p:cNvSpPr/>
          <p:nvPr/>
        </p:nvSpPr>
        <p:spPr>
          <a:xfrm>
            <a:off x="2247900" y="3197861"/>
            <a:ext cx="297189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Compare Mag Rvalue' | ε</a:t>
            </a:r>
            <a:endParaRPr lang="en-US" sz="1300" dirty="0"/>
          </a:p>
        </p:txBody>
      </p:sp>
      <p:sp>
        <p:nvSpPr>
          <p:cNvPr id="13" name="Text 11"/>
          <p:cNvSpPr/>
          <p:nvPr/>
        </p:nvSpPr>
        <p:spPr>
          <a:xfrm>
            <a:off x="1066800" y="3492500"/>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Mag</a:t>
            </a:r>
            <a:endParaRPr lang="en-US" sz="1300" dirty="0"/>
          </a:p>
        </p:txBody>
      </p:sp>
      <p:sp>
        <p:nvSpPr>
          <p:cNvPr id="14" name="Text 12"/>
          <p:cNvSpPr/>
          <p:nvPr/>
        </p:nvSpPr>
        <p:spPr>
          <a:xfrm>
            <a:off x="2247900" y="3492500"/>
            <a:ext cx="130768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Term Mag'</a:t>
            </a:r>
            <a:endParaRPr lang="en-US" sz="1300" dirty="0"/>
          </a:p>
        </p:txBody>
      </p:sp>
      <p:sp>
        <p:nvSpPr>
          <p:cNvPr id="15" name="Text 13"/>
          <p:cNvSpPr/>
          <p:nvPr/>
        </p:nvSpPr>
        <p:spPr>
          <a:xfrm>
            <a:off x="1066800" y="3787139"/>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Mag'</a:t>
            </a:r>
            <a:endParaRPr lang="en-US" sz="1300" dirty="0"/>
          </a:p>
        </p:txBody>
      </p:sp>
      <p:sp>
        <p:nvSpPr>
          <p:cNvPr id="16" name="Text 14"/>
          <p:cNvSpPr/>
          <p:nvPr/>
        </p:nvSpPr>
        <p:spPr>
          <a:xfrm>
            <a:off x="2247900" y="3787139"/>
            <a:ext cx="36851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 Term Mag' | - Term Mag' | ε</a:t>
            </a:r>
            <a:endParaRPr lang="en-US" sz="1300" dirty="0"/>
          </a:p>
        </p:txBody>
      </p:sp>
      <p:sp>
        <p:nvSpPr>
          <p:cNvPr id="17" name="Text 15"/>
          <p:cNvSpPr/>
          <p:nvPr/>
        </p:nvSpPr>
        <p:spPr>
          <a:xfrm>
            <a:off x="1066800" y="4081782"/>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Term</a:t>
            </a:r>
            <a:endParaRPr lang="en-US" sz="1300" dirty="0"/>
          </a:p>
        </p:txBody>
      </p:sp>
      <p:sp>
        <p:nvSpPr>
          <p:cNvPr id="18" name="Text 16"/>
          <p:cNvSpPr/>
          <p:nvPr/>
        </p:nvSpPr>
        <p:spPr>
          <a:xfrm>
            <a:off x="2247900" y="4081782"/>
            <a:ext cx="166430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Factor Term'</a:t>
            </a:r>
            <a:endParaRPr lang="en-US" sz="1300" dirty="0"/>
          </a:p>
        </p:txBody>
      </p:sp>
      <p:sp>
        <p:nvSpPr>
          <p:cNvPr id="19" name="Text 17"/>
          <p:cNvSpPr/>
          <p:nvPr/>
        </p:nvSpPr>
        <p:spPr>
          <a:xfrm>
            <a:off x="1066800" y="4376421"/>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Term'</a:t>
            </a:r>
            <a:endParaRPr lang="en-US" sz="1300" dirty="0"/>
          </a:p>
        </p:txBody>
      </p:sp>
      <p:sp>
        <p:nvSpPr>
          <p:cNvPr id="20" name="Text 18"/>
          <p:cNvSpPr/>
          <p:nvPr/>
        </p:nvSpPr>
        <p:spPr>
          <a:xfrm>
            <a:off x="2247900" y="4376421"/>
            <a:ext cx="439835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 Factor Term' | / Factor Term' | ε</a:t>
            </a:r>
            <a:endParaRPr lang="en-US" sz="1300" dirty="0"/>
          </a:p>
        </p:txBody>
      </p:sp>
      <p:sp>
        <p:nvSpPr>
          <p:cNvPr id="21" name="Text 19"/>
          <p:cNvSpPr/>
          <p:nvPr/>
        </p:nvSpPr>
        <p:spPr>
          <a:xfrm>
            <a:off x="1066800" y="4671061"/>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Factor</a:t>
            </a:r>
            <a:endParaRPr lang="en-US" sz="1300" dirty="0"/>
          </a:p>
        </p:txBody>
      </p:sp>
      <p:sp>
        <p:nvSpPr>
          <p:cNvPr id="22" name="Text 20"/>
          <p:cNvSpPr/>
          <p:nvPr/>
        </p:nvSpPr>
        <p:spPr>
          <a:xfrm>
            <a:off x="2247900" y="4671061"/>
            <a:ext cx="249640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 Expr ) | ID | NUM</a:t>
            </a:r>
            <a:endParaRPr lang="en-US" sz="1300" dirty="0"/>
          </a:p>
        </p:txBody>
      </p:sp>
      <p:sp>
        <p:nvSpPr>
          <p:cNvPr id="23" name="Text 21"/>
          <p:cNvSpPr/>
          <p:nvPr/>
        </p:nvSpPr>
        <p:spPr>
          <a:xfrm>
            <a:off x="1066800" y="4965700"/>
            <a:ext cx="1130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134"/>
                </a:solidFill>
                <a:latin typeface="JetBrains Mono" pitchFamily="49" charset="0"/>
                <a:ea typeface="JetBrains Mono" pitchFamily="49" charset="-122"/>
                <a:cs typeface="JetBrains Mono" pitchFamily="49" charset="-120"/>
              </a:rPr>
              <a:t>Compare</a:t>
            </a:r>
            <a:endParaRPr lang="en-US" sz="1300" dirty="0"/>
          </a:p>
        </p:txBody>
      </p:sp>
      <p:sp>
        <p:nvSpPr>
          <p:cNvPr id="24" name="Text 22"/>
          <p:cNvSpPr/>
          <p:nvPr/>
        </p:nvSpPr>
        <p:spPr>
          <a:xfrm>
            <a:off x="2247900" y="4965700"/>
            <a:ext cx="380399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6F1"/>
                </a:solidFill>
                <a:latin typeface="JetBrains Mono" pitchFamily="49" charset="0"/>
                <a:ea typeface="JetBrains Mono" pitchFamily="49" charset="-122"/>
                <a:cs typeface="JetBrains Mono" pitchFamily="49" charset="-120"/>
              </a:rPr>
              <a:t>→ == | &lt; | &gt; | &lt;= | &gt;= | != | &lt;&gt;</a:t>
            </a:r>
            <a:endParaRPr lang="en-US" sz="1300" dirty="0"/>
          </a:p>
        </p:txBody>
      </p:sp>
      <p:sp>
        <p:nvSpPr>
          <p:cNvPr id="25" name="Text 23"/>
          <p:cNvSpPr/>
          <p:nvPr/>
        </p:nvSpPr>
        <p:spPr>
          <a:xfrm>
            <a:off x="6959600" y="1854200"/>
            <a:ext cx="455218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33"/>
                </a:solidFill>
                <a:latin typeface="DM Sans" pitchFamily="34" charset="0"/>
                <a:ea typeface="DM Sans" pitchFamily="34" charset="-122"/>
                <a:cs typeface="DM Sans" pitchFamily="34" charset="-120"/>
              </a:rPr>
              <a:t>What the conversion gives us</a:t>
            </a:r>
            <a:endParaRPr lang="en-US" sz="1800" dirty="0"/>
          </a:p>
        </p:txBody>
      </p:sp>
      <p:sp>
        <p:nvSpPr>
          <p:cNvPr id="26" name="Text 24"/>
          <p:cNvSpPr/>
          <p:nvPr/>
        </p:nvSpPr>
        <p:spPr>
          <a:xfrm>
            <a:off x="7030720" y="2280921"/>
            <a:ext cx="4473448" cy="2235200"/>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4A5468"/>
                </a:solidFill>
                <a:latin typeface="DM Sans" pitchFamily="34" charset="0"/>
                <a:ea typeface="DM Sans" pitchFamily="34" charset="-122"/>
                <a:cs typeface="DM Sans" pitchFamily="34" charset="-120"/>
              </a:rPr>
              <a:t>Every loop is a tail rule marked with a prime, so no rule is left-recursive.</a:t>
            </a:r>
            <a:endParaRPr lang="en-US" sz="1500" dirty="0"/>
          </a:p>
          <a:p>
            <a:pPr marL="182880" indent="-182880" algn="l">
              <a:lnSpc>
                <a:spcPts val="2175"/>
              </a:lnSpc>
              <a:buSzPct val="100000"/>
              <a:buChar char="•"/>
            </a:pPr>
            <a:r>
              <a:rPr lang="en-US" sz="1500" dirty="0">
                <a:solidFill>
                  <a:srgbClr val="4A5468"/>
                </a:solidFill>
                <a:latin typeface="DM Sans" pitchFamily="34" charset="0"/>
                <a:ea typeface="DM Sans" pitchFamily="34" charset="-122"/>
                <a:cs typeface="DM Sans" pitchFamily="34" charset="-120"/>
              </a:rPr>
              <a:t>* and / bind tighter than + and -, and comparisons bind loosest.</a:t>
            </a:r>
            <a:endParaRPr lang="en-US" sz="1500" dirty="0"/>
          </a:p>
          <a:p>
            <a:pPr marL="182880" indent="-182880" algn="l">
              <a:lnSpc>
                <a:spcPts val="2175"/>
              </a:lnSpc>
              <a:buSzPct val="100000"/>
              <a:buChar char="•"/>
            </a:pPr>
            <a:r>
              <a:rPr lang="en-US" sz="1500" dirty="0">
                <a:solidFill>
                  <a:srgbClr val="4A5468"/>
                </a:solidFill>
                <a:latin typeface="DM Sans" pitchFamily="34" charset="0"/>
                <a:ea typeface="DM Sans" pitchFamily="34" charset="-122"/>
                <a:cs typeface="DM Sans" pitchFamily="34" charset="-120"/>
              </a:rPr>
              <a:t>The right side of := is a full Expr, so chains like a := b := 1 parse.</a:t>
            </a:r>
            <a:endParaRPr lang="en-US" sz="1500" dirty="0"/>
          </a:p>
          <a:p>
            <a:pPr marL="182880" indent="-182880" algn="l">
              <a:lnSpc>
                <a:spcPts val="2175"/>
              </a:lnSpc>
              <a:buSzPct val="100000"/>
              <a:buChar char="•"/>
            </a:pPr>
            <a:r>
              <a:rPr lang="en-US" sz="1500" dirty="0">
                <a:solidFill>
                  <a:srgbClr val="4A5468"/>
                </a:solidFill>
                <a:latin typeface="DM Sans" pitchFamily="34" charset="0"/>
                <a:ea typeface="DM Sans" pitchFamily="34" charset="-122"/>
                <a:cs typeface="DM Sans" pitchFamily="34" charset="-120"/>
              </a:rPr>
              <a:t>One token of lookahead always picks the production.</a:t>
            </a:r>
            <a:endParaRPr lang="en-US" sz="1500" dirty="0"/>
          </a:p>
        </p:txBody>
      </p:sp>
      <p:sp>
        <p:nvSpPr>
          <p:cNvPr id="27" name="Text 25"/>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28" name="Text 2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GRAMMAR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Step 2: FIRST and FOLLOW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141220"/>
        </p:xfrm>
        <a:graphic>
          <a:graphicData uri="http://schemas.openxmlformats.org/drawingml/2006/table">
            <a:tbl>
              <a:tblPr/>
              <a:tblGrid>
                <a:gridCol w="1688998">
                  <a:extLst>
                    <a:ext uri="{9D8B030D-6E8A-4147-A177-3AD203B41FA5}">
                      <a16:colId xmlns:a16="http://schemas.microsoft.com/office/drawing/2014/main" val="20000"/>
                    </a:ext>
                  </a:extLst>
                </a:gridCol>
                <a:gridCol w="4433621">
                  <a:extLst>
                    <a:ext uri="{9D8B030D-6E8A-4147-A177-3AD203B41FA5}">
                      <a16:colId xmlns:a16="http://schemas.microsoft.com/office/drawing/2014/main" val="20001"/>
                    </a:ext>
                  </a:extLst>
                </a:gridCol>
                <a:gridCol w="4433621">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0F1B33"/>
                          </a:solidFill>
                          <a:latin typeface="DM Sans" pitchFamily="34" charset="0"/>
                          <a:ea typeface="DM Sans" pitchFamily="34" charset="-122"/>
                          <a:cs typeface="DM Sans" pitchFamily="34" charset="-120"/>
                        </a:rPr>
                        <a:t>Non-terminal</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820"/>
                        </a:lnSpc>
                        <a:buNone/>
                      </a:pPr>
                      <a:r>
                        <a:rPr lang="en-US" sz="1300" b="1" dirty="0">
                          <a:solidFill>
                            <a:srgbClr val="0F1B33"/>
                          </a:solidFill>
                          <a:latin typeface="DM Sans" pitchFamily="34" charset="0"/>
                          <a:ea typeface="DM Sans" pitchFamily="34" charset="-122"/>
                          <a:cs typeface="DM Sans" pitchFamily="34" charset="-120"/>
                        </a:rPr>
                        <a:t>FIRST</a:t>
                      </a:r>
                      <a:endParaRPr lang="en-US" sz="1300" dirty="0">
                        <a:latin typeface="DM Sans" charset="0"/>
                        <a:ea typeface="DM Sans" charset="0"/>
                        <a:cs typeface="DM Sans" charset="0"/>
                      </a:endParaRPr>
                    </a:p>
                  </a:txBody>
                  <a:tcPr marL="57785" marR="57785" marT="57785" marB="5778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820"/>
                        </a:lnSpc>
                        <a:buNone/>
                      </a:pPr>
                      <a:r>
                        <a:rPr lang="en-US" sz="1300" b="1" dirty="0">
                          <a:solidFill>
                            <a:srgbClr val="0F1B33"/>
                          </a:solidFill>
                          <a:latin typeface="DM Sans" pitchFamily="34" charset="0"/>
                          <a:ea typeface="DM Sans" pitchFamily="34" charset="-122"/>
                          <a:cs typeface="DM Sans" pitchFamily="34" charset="-120"/>
                        </a:rPr>
                        <a:t>FOLLOW</a:t>
                      </a:r>
                      <a:endParaRPr lang="en-US" sz="1300" dirty="0">
                        <a:latin typeface="DM Sans" charset="0"/>
                        <a:ea typeface="DM Sans" charset="0"/>
                        <a:cs typeface="DM Sans" charset="0"/>
                      </a:endParaRPr>
                    </a:p>
                  </a:txBody>
                  <a:tcPr marL="57785" marR="57785" marT="57785" marB="5778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Stmt</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types, for, while, Agar, ID, NUM, (, {,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types, for, while, Agar, ID, NUM, (, {, },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Expr</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ID, NUM,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ExprRest</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 ==, &lt;, &gt;, &lt;=, &gt;=, !=, &lt;&gt;, +, -, *, /, ε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Term'</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 /, ε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 ::, ==, &lt;, &gt;, &lt;=, &gt;=, !=, &lt;&gt;, +,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ElsePart</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Wagarna, ε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0F1B33"/>
                          </a:solidFill>
                          <a:latin typeface="DM Sans" pitchFamily="34" charset="0"/>
                          <a:ea typeface="DM Sans" pitchFamily="34" charset="-122"/>
                          <a:cs typeface="DM Sans" pitchFamily="34" charset="-120"/>
                        </a:rPr>
                        <a:t>{ types, for, while, Agar, ID, NUM, (, {, }, :: }</a:t>
                      </a:r>
                      <a:endParaRPr lang="en-US" sz="1300" dirty="0">
                        <a:latin typeface="DM Sans" charset="0"/>
                        <a:ea typeface="DM Sans" charset="0"/>
                        <a:cs typeface="DM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20878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33"/>
                </a:solidFill>
                <a:latin typeface="DM Sans" pitchFamily="34" charset="0"/>
                <a:ea typeface="DM Sans" pitchFamily="34" charset="-122"/>
                <a:cs typeface="DM Sans" pitchFamily="34" charset="-120"/>
              </a:rPr>
              <a:t>FOLLOW decides when to POP. FIRST decides where SCAN stops.</a:t>
            </a:r>
            <a:endParaRPr lang="en-US" sz="1500" dirty="0"/>
          </a:p>
        </p:txBody>
      </p:sp>
      <p:sp>
        <p:nvSpPr>
          <p:cNvPr id="6" name="Text 3"/>
          <p:cNvSpPr/>
          <p:nvPr/>
        </p:nvSpPr>
        <p:spPr>
          <a:xfrm>
            <a:off x="812800" y="452628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types = Adadi, Ashriya, Harf, Matn, Mantiqi. Every set is in the workbook.</a:t>
            </a:r>
            <a:endParaRPr lang="en-US" sz="1200" dirty="0"/>
          </a:p>
        </p:txBody>
      </p:sp>
      <p:sp>
        <p:nvSpPr>
          <p:cNvPr id="7" name="Text 4"/>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8" name="Text 5"/>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134"/>
                </a:solidFill>
                <a:latin typeface="DM Sans" pitchFamily="34" charset="0"/>
                <a:ea typeface="DM Sans" pitchFamily="34" charset="-122"/>
                <a:cs typeface="DM Sans" pitchFamily="34" charset="-120"/>
              </a:rPr>
              <a:t>TABLE</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7F6F1"/>
                </a:solidFill>
                <a:latin typeface="DM Sans" pitchFamily="34" charset="0"/>
                <a:ea typeface="DM Sans" pitchFamily="34" charset="-122"/>
                <a:cs typeface="DM Sans" pitchFamily="34" charset="-120"/>
              </a:rPr>
              <a:t>Step 3: the parsing table</a:t>
            </a:r>
            <a:endParaRPr lang="en-US" sz="3200" dirty="0"/>
          </a:p>
        </p:txBody>
      </p:sp>
      <p:sp>
        <p:nvSpPr>
          <p:cNvPr id="4" name="Text 2"/>
          <p:cNvSpPr/>
          <p:nvPr/>
        </p:nvSpPr>
        <p:spPr>
          <a:xfrm>
            <a:off x="812800" y="2285364"/>
            <a:ext cx="2485390" cy="18542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28 × 31</a:t>
            </a:r>
            <a:endParaRPr lang="en-US" sz="7200" dirty="0"/>
          </a:p>
        </p:txBody>
      </p:sp>
      <p:sp>
        <p:nvSpPr>
          <p:cNvPr id="5" name="Text 3"/>
          <p:cNvSpPr/>
          <p:nvPr/>
        </p:nvSpPr>
        <p:spPr>
          <a:xfrm>
            <a:off x="812800" y="4164964"/>
            <a:ext cx="248539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9C3D9"/>
                </a:solidFill>
                <a:latin typeface="DM Sans" pitchFamily="34" charset="0"/>
                <a:ea typeface="DM Sans" pitchFamily="34" charset="-122"/>
                <a:cs typeface="DM Sans" pitchFamily="34" charset="-120"/>
              </a:rPr>
              <a:t>non-terminals by terminals, plus $</a:t>
            </a:r>
            <a:endParaRPr lang="en-US" sz="1500" dirty="0"/>
          </a:p>
        </p:txBody>
      </p:sp>
      <p:sp>
        <p:nvSpPr>
          <p:cNvPr id="6" name="Text 4"/>
          <p:cNvSpPr/>
          <p:nvPr/>
        </p:nvSpPr>
        <p:spPr>
          <a:xfrm>
            <a:off x="3530600" y="2285364"/>
            <a:ext cx="2485390"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163</a:t>
            </a:r>
            <a:endParaRPr lang="en-US" sz="7200" dirty="0"/>
          </a:p>
        </p:txBody>
      </p:sp>
      <p:sp>
        <p:nvSpPr>
          <p:cNvPr id="7" name="Text 5"/>
          <p:cNvSpPr/>
          <p:nvPr/>
        </p:nvSpPr>
        <p:spPr>
          <a:xfrm>
            <a:off x="3530600" y="3250564"/>
            <a:ext cx="248539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9C3D9"/>
                </a:solidFill>
                <a:latin typeface="DM Sans" pitchFamily="34" charset="0"/>
                <a:ea typeface="DM Sans" pitchFamily="34" charset="-122"/>
                <a:cs typeface="DM Sans" pitchFamily="34" charset="-120"/>
              </a:rPr>
              <a:t>boxes hold a production number</a:t>
            </a:r>
            <a:endParaRPr lang="en-US" sz="1500" dirty="0"/>
          </a:p>
        </p:txBody>
      </p:sp>
      <p:sp>
        <p:nvSpPr>
          <p:cNvPr id="8" name="Text 6"/>
          <p:cNvSpPr/>
          <p:nvPr/>
        </p:nvSpPr>
        <p:spPr>
          <a:xfrm>
            <a:off x="6248400" y="2285364"/>
            <a:ext cx="2485390"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705</a:t>
            </a:r>
            <a:endParaRPr lang="en-US" sz="7200" dirty="0"/>
          </a:p>
        </p:txBody>
      </p:sp>
      <p:sp>
        <p:nvSpPr>
          <p:cNvPr id="9" name="Text 7"/>
          <p:cNvSpPr/>
          <p:nvPr/>
        </p:nvSpPr>
        <p:spPr>
          <a:xfrm>
            <a:off x="6248400" y="3250564"/>
            <a:ext cx="248539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9C3D9"/>
                </a:solidFill>
                <a:latin typeface="DM Sans" pitchFamily="34" charset="0"/>
                <a:ea typeface="DM Sans" pitchFamily="34" charset="-122"/>
                <a:cs typeface="DM Sans" pitchFamily="34" charset="-120"/>
              </a:rPr>
              <a:t>error boxes, each Pop or Scan</a:t>
            </a:r>
            <a:endParaRPr lang="en-US" sz="1500" dirty="0"/>
          </a:p>
        </p:txBody>
      </p:sp>
      <p:sp>
        <p:nvSpPr>
          <p:cNvPr id="10" name="Text 8"/>
          <p:cNvSpPr/>
          <p:nvPr/>
        </p:nvSpPr>
        <p:spPr>
          <a:xfrm>
            <a:off x="8966200" y="2285364"/>
            <a:ext cx="2485390"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0</a:t>
            </a:r>
            <a:endParaRPr lang="en-US" sz="7200" dirty="0"/>
          </a:p>
        </p:txBody>
      </p:sp>
      <p:sp>
        <p:nvSpPr>
          <p:cNvPr id="11" name="Text 9"/>
          <p:cNvSpPr/>
          <p:nvPr/>
        </p:nvSpPr>
        <p:spPr>
          <a:xfrm>
            <a:off x="8966200" y="3250564"/>
            <a:ext cx="2485390"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9C3D9"/>
                </a:solidFill>
                <a:latin typeface="DM Sans" pitchFamily="34" charset="0"/>
                <a:ea typeface="DM Sans" pitchFamily="34" charset="-122"/>
                <a:cs typeface="DM Sans" pitchFamily="34" charset="-120"/>
              </a:rPr>
              <a:t>boxes with two productions, so the grammar is LL(1)</a:t>
            </a:r>
            <a:endParaRPr lang="en-US" sz="1500" dirty="0"/>
          </a:p>
        </p:txBody>
      </p:sp>
      <p:sp>
        <p:nvSpPr>
          <p:cNvPr id="12" name="Text 10"/>
          <p:cNvSpPr/>
          <p:nvPr/>
        </p:nvSpPr>
        <p:spPr>
          <a:xfrm>
            <a:off x="812800" y="5415282"/>
            <a:ext cx="2106930" cy="426720"/>
          </a:xfrm>
          <a:prstGeom prst="roundRect">
            <a:avLst>
              <a:gd name="adj" fmla="val 50000"/>
            </a:avLst>
          </a:prstGeom>
          <a:solidFill>
            <a:srgbClr val="1E4D3A"/>
          </a:solidFill>
          <a:ln/>
        </p:spPr>
        <p:txBody>
          <a:bodyPr wrap="none" lIns="0" tIns="0" rIns="0" bIns="0" rtlCol="0" anchor="ctr">
            <a:normAutofit/>
          </a:bodyPr>
          <a:lstStyle/>
          <a:p>
            <a:pPr marL="0" indent="0" algn="ctr">
              <a:lnSpc>
                <a:spcPts val="1960"/>
              </a:lnSpc>
              <a:buNone/>
            </a:pPr>
            <a:r>
              <a:rPr lang="en-US" sz="1400" dirty="0">
                <a:solidFill>
                  <a:srgbClr val="CFEFDC"/>
                </a:solidFill>
                <a:latin typeface="DM Sans" pitchFamily="34" charset="0"/>
                <a:ea typeface="DM Sans" pitchFamily="34" charset="-122"/>
                <a:cs typeface="DM Sans" pitchFamily="34" charset="-120"/>
              </a:rPr>
              <a:t>n: apply production n</a:t>
            </a:r>
            <a:endParaRPr lang="en-US" sz="1400" dirty="0"/>
          </a:p>
        </p:txBody>
      </p:sp>
      <p:sp>
        <p:nvSpPr>
          <p:cNvPr id="13" name="Text 11"/>
          <p:cNvSpPr/>
          <p:nvPr/>
        </p:nvSpPr>
        <p:spPr>
          <a:xfrm>
            <a:off x="3072130" y="5415282"/>
            <a:ext cx="2773204" cy="426720"/>
          </a:xfrm>
          <a:prstGeom prst="roundRect">
            <a:avLst>
              <a:gd name="adj" fmla="val 50000"/>
            </a:avLst>
          </a:prstGeom>
          <a:solidFill>
            <a:srgbClr val="5A3A12"/>
          </a:solidFill>
          <a:ln/>
        </p:spPr>
        <p:txBody>
          <a:bodyPr wrap="none" lIns="0" tIns="0" rIns="0" bIns="0" rtlCol="0" anchor="ctr">
            <a:normAutofit/>
          </a:bodyPr>
          <a:lstStyle/>
          <a:p>
            <a:pPr marL="0" indent="0" algn="ctr">
              <a:lnSpc>
                <a:spcPts val="1960"/>
              </a:lnSpc>
              <a:buNone/>
            </a:pPr>
            <a:r>
              <a:rPr lang="en-US" sz="1400" dirty="0">
                <a:solidFill>
                  <a:srgbClr val="FFD9A0"/>
                </a:solidFill>
                <a:latin typeface="DM Sans" pitchFamily="34" charset="0"/>
                <a:ea typeface="DM Sans" pitchFamily="34" charset="-122"/>
                <a:cs typeface="DM Sans" pitchFamily="34" charset="-120"/>
              </a:rPr>
              <a:t>Pop: token in FOLLOW(A) or $</a:t>
            </a:r>
            <a:endParaRPr lang="en-US" sz="1400" dirty="0"/>
          </a:p>
        </p:txBody>
      </p:sp>
      <p:sp>
        <p:nvSpPr>
          <p:cNvPr id="14" name="Text 12"/>
          <p:cNvSpPr/>
          <p:nvPr/>
        </p:nvSpPr>
        <p:spPr>
          <a:xfrm>
            <a:off x="5997734" y="5415282"/>
            <a:ext cx="2131536" cy="426720"/>
          </a:xfrm>
          <a:prstGeom prst="roundRect">
            <a:avLst>
              <a:gd name="adj" fmla="val 50000"/>
            </a:avLst>
          </a:prstGeom>
          <a:solidFill>
            <a:srgbClr val="2A3550"/>
          </a:solidFill>
          <a:ln/>
        </p:spPr>
        <p:txBody>
          <a:bodyPr wrap="none" lIns="0" tIns="0" rIns="0" bIns="0" rtlCol="0" anchor="ctr">
            <a:normAutofit/>
          </a:bodyPr>
          <a:lstStyle/>
          <a:p>
            <a:pPr marL="0" indent="0" algn="ctr">
              <a:lnSpc>
                <a:spcPts val="1960"/>
              </a:lnSpc>
              <a:buNone/>
            </a:pPr>
            <a:r>
              <a:rPr lang="en-US" sz="1400" dirty="0">
                <a:solidFill>
                  <a:srgbClr val="C8D0E4"/>
                </a:solidFill>
                <a:latin typeface="DM Sans" pitchFamily="34" charset="0"/>
                <a:ea typeface="DM Sans" pitchFamily="34" charset="-122"/>
                <a:cs typeface="DM Sans" pitchFamily="34" charset="-120"/>
              </a:rPr>
              <a:t>Scan: any other token</a:t>
            </a:r>
            <a:endParaRPr lang="en-US" sz="1400" dirty="0"/>
          </a:p>
        </p:txBody>
      </p:sp>
      <p:sp>
        <p:nvSpPr>
          <p:cNvPr id="15" name="Text 13"/>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9"/>
                </a:solidFill>
                <a:latin typeface="DM Sans" pitchFamily="34" charset="0"/>
                <a:ea typeface="DM Sans" pitchFamily="34" charset="-122"/>
                <a:cs typeface="DM Sans" pitchFamily="34" charset="-120"/>
              </a:rPr>
              <a:t>Phase 2 · LL(1) syntax analyzer</a:t>
            </a:r>
            <a:endParaRPr lang="en-US" sz="1200" dirty="0"/>
          </a:p>
        </p:txBody>
      </p:sp>
      <p:sp>
        <p:nvSpPr>
          <p:cNvPr id="16" name="Text 1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D9"/>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TABLE</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Reading table 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37" cy="2461260"/>
        </p:xfrm>
        <a:graphic>
          <a:graphicData uri="http://schemas.openxmlformats.org/drawingml/2006/table">
            <a:tbl>
              <a:tblPr/>
              <a:tblGrid>
                <a:gridCol w="1537317">
                  <a:extLst>
                    <a:ext uri="{9D8B030D-6E8A-4147-A177-3AD203B41FA5}">
                      <a16:colId xmlns:a16="http://schemas.microsoft.com/office/drawing/2014/main" val="20000"/>
                    </a:ext>
                  </a:extLst>
                </a:gridCol>
                <a:gridCol w="1127365">
                  <a:extLst>
                    <a:ext uri="{9D8B030D-6E8A-4147-A177-3AD203B41FA5}">
                      <a16:colId xmlns:a16="http://schemas.microsoft.com/office/drawing/2014/main" val="20001"/>
                    </a:ext>
                  </a:extLst>
                </a:gridCol>
                <a:gridCol w="1127365">
                  <a:extLst>
                    <a:ext uri="{9D8B030D-6E8A-4147-A177-3AD203B41FA5}">
                      <a16:colId xmlns:a16="http://schemas.microsoft.com/office/drawing/2014/main" val="20002"/>
                    </a:ext>
                  </a:extLst>
                </a:gridCol>
                <a:gridCol w="1127365">
                  <a:extLst>
                    <a:ext uri="{9D8B030D-6E8A-4147-A177-3AD203B41FA5}">
                      <a16:colId xmlns:a16="http://schemas.microsoft.com/office/drawing/2014/main" val="20003"/>
                    </a:ext>
                  </a:extLst>
                </a:gridCol>
                <a:gridCol w="1127365">
                  <a:extLst>
                    <a:ext uri="{9D8B030D-6E8A-4147-A177-3AD203B41FA5}">
                      <a16:colId xmlns:a16="http://schemas.microsoft.com/office/drawing/2014/main" val="20004"/>
                    </a:ext>
                  </a:extLst>
                </a:gridCol>
                <a:gridCol w="1127365">
                  <a:extLst>
                    <a:ext uri="{9D8B030D-6E8A-4147-A177-3AD203B41FA5}">
                      <a16:colId xmlns:a16="http://schemas.microsoft.com/office/drawing/2014/main" val="20005"/>
                    </a:ext>
                  </a:extLst>
                </a:gridCol>
                <a:gridCol w="1127365">
                  <a:extLst>
                    <a:ext uri="{9D8B030D-6E8A-4147-A177-3AD203B41FA5}">
                      <a16:colId xmlns:a16="http://schemas.microsoft.com/office/drawing/2014/main" val="20006"/>
                    </a:ext>
                  </a:extLst>
                </a:gridCol>
                <a:gridCol w="1127365">
                  <a:extLst>
                    <a:ext uri="{9D8B030D-6E8A-4147-A177-3AD203B41FA5}">
                      <a16:colId xmlns:a16="http://schemas.microsoft.com/office/drawing/2014/main" val="20007"/>
                    </a:ext>
                  </a:extLst>
                </a:gridCol>
                <a:gridCol w="1127365">
                  <a:extLst>
                    <a:ext uri="{9D8B030D-6E8A-4147-A177-3AD203B41FA5}">
                      <a16:colId xmlns:a16="http://schemas.microsoft.com/office/drawing/2014/main" val="20008"/>
                    </a:ext>
                  </a:extLst>
                </a:gridCol>
              </a:tblGrid>
              <a:tr h="410210">
                <a:tc>
                  <a:txBody>
                    <a:bodyPr/>
                    <a:lstStyle/>
                    <a:p>
                      <a:pPr marL="0" indent="0">
                        <a:lnSpc>
                          <a:spcPts val="2100"/>
                        </a:lnSpc>
                        <a:buNone/>
                      </a:pPr>
                      <a:r>
                        <a:rPr lang="en-US" sz="1500" b="1" dirty="0">
                          <a:solidFill>
                            <a:srgbClr val="0F1B33"/>
                          </a:solidFill>
                          <a:latin typeface="DM Sans" pitchFamily="34" charset="0"/>
                          <a:ea typeface="DM Sans" pitchFamily="34" charset="-122"/>
                          <a:cs typeface="DM Sans" pitchFamily="34" charset="-120"/>
                        </a:rPr>
                        <a:t>M</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ID</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NUM</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gn="ctr">
                        <a:lnSpc>
                          <a:spcPts val="2100"/>
                        </a:lnSpc>
                        <a:buNone/>
                      </a:pPr>
                      <a:r>
                        <a:rPr lang="en-US" sz="1500" b="1" dirty="0">
                          <a:solidFill>
                            <a:srgbClr val="0F1B33"/>
                          </a:solidFill>
                          <a:latin typeface="DM Sans" pitchFamily="34" charset="0"/>
                          <a:ea typeface="DM Sans" pitchFamily="34" charset="-122"/>
                          <a:cs typeface="DM Sans" pitchFamily="34" charset="-120"/>
                        </a:rPr>
                        <a:t>*</a:t>
                      </a:r>
                      <a:endParaRPr lang="en-US" sz="1500" dirty="0">
                        <a:latin typeface="DM Sans" charset="0"/>
                        <a:ea typeface="DM Sans" charset="0"/>
                        <a:cs typeface="DM Sans" charset="0"/>
                      </a:endParaRPr>
                    </a:p>
                  </a:txBody>
                  <a:tcPr marL="66675" marR="66675" marT="66675" marB="6667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0F1B33"/>
                          </a:solidFill>
                          <a:latin typeface="DM Sans" pitchFamily="34" charset="0"/>
                          <a:ea typeface="DM Sans" pitchFamily="34" charset="-122"/>
                          <a:cs typeface="DM Sans" pitchFamily="34" charset="-120"/>
                        </a:rPr>
                        <a:t>Stmt</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24</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24</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24</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28</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0F1B33"/>
                          </a:solidFill>
                          <a:latin typeface="DM Sans" pitchFamily="34" charset="0"/>
                          <a:ea typeface="DM Sans" pitchFamily="34" charset="-122"/>
                          <a:cs typeface="DM Sans" pitchFamily="34" charset="-120"/>
                        </a:rPr>
                        <a:t>Expr</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39</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40</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41</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B45309"/>
                          </a:solidFill>
                          <a:latin typeface="DM Sans" pitchFamily="34" charset="0"/>
                          <a:ea typeface="DM Sans" pitchFamily="34" charset="-122"/>
                          <a:cs typeface="DM Sans" pitchFamily="34" charset="-120"/>
                        </a:rPr>
                        <a:t>Pop</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B45309"/>
                          </a:solidFill>
                          <a:latin typeface="DM Sans" pitchFamily="34" charset="0"/>
                          <a:ea typeface="DM Sans" pitchFamily="34" charset="-122"/>
                          <a:cs typeface="DM Sans" pitchFamily="34" charset="-120"/>
                        </a:rPr>
                        <a:t>Pop</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0F1B33"/>
                          </a:solidFill>
                          <a:latin typeface="DM Sans" pitchFamily="34" charset="0"/>
                          <a:ea typeface="DM Sans" pitchFamily="34" charset="-122"/>
                          <a:cs typeface="DM Sans" pitchFamily="34" charset="-120"/>
                        </a:rPr>
                        <a:t>ExprRest</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43</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43</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42</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43</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43</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0F1B33"/>
                          </a:solidFill>
                          <a:latin typeface="DM Sans" pitchFamily="34" charset="0"/>
                          <a:ea typeface="DM Sans" pitchFamily="34" charset="-122"/>
                          <a:cs typeface="DM Sans" pitchFamily="34" charset="-120"/>
                        </a:rPr>
                        <a:t>Term'</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61</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61</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61</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59</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0F1B33"/>
                          </a:solidFill>
                          <a:latin typeface="DM Sans" pitchFamily="34" charset="0"/>
                          <a:ea typeface="DM Sans" pitchFamily="34" charset="-122"/>
                          <a:cs typeface="DM Sans" pitchFamily="34" charset="-120"/>
                        </a:rPr>
                        <a:t>Factor</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63</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64</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2A5BD7"/>
                          </a:solidFill>
                          <a:latin typeface="DM Sans" pitchFamily="34" charset="0"/>
                          <a:ea typeface="DM Sans" pitchFamily="34" charset="-122"/>
                          <a:cs typeface="DM Sans" pitchFamily="34" charset="-120"/>
                        </a:rPr>
                        <a:t>62</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B45309"/>
                          </a:solidFill>
                          <a:latin typeface="DM Sans" pitchFamily="34" charset="0"/>
                          <a:ea typeface="DM Sans" pitchFamily="34" charset="-122"/>
                          <a:cs typeface="DM Sans" pitchFamily="34" charset="-120"/>
                        </a:rPr>
                        <a:t>Pop</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B45309"/>
                          </a:solidFill>
                          <a:latin typeface="DM Sans" pitchFamily="34" charset="0"/>
                          <a:ea typeface="DM Sans" pitchFamily="34" charset="-122"/>
                          <a:cs typeface="DM Sans" pitchFamily="34" charset="-120"/>
                        </a:rPr>
                        <a:t>Pop</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5F6675"/>
                          </a:solidFill>
                          <a:latin typeface="DM Sans" pitchFamily="34" charset="0"/>
                          <a:ea typeface="DM Sans" pitchFamily="34" charset="-122"/>
                          <a:cs typeface="DM Sans" pitchFamily="34" charset="-120"/>
                        </a:rPr>
                        <a:t>Scan</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B45309"/>
                          </a:solidFill>
                          <a:latin typeface="DM Sans" pitchFamily="34" charset="0"/>
                          <a:ea typeface="DM Sans" pitchFamily="34" charset="-122"/>
                          <a:cs typeface="DM Sans" pitchFamily="34" charset="-120"/>
                        </a:rPr>
                        <a:t>Pop</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ctr">
                        <a:lnSpc>
                          <a:spcPts val="2100"/>
                        </a:lnSpc>
                        <a:buNone/>
                      </a:pPr>
                      <a:r>
                        <a:rPr lang="en-US" sz="1500" dirty="0">
                          <a:solidFill>
                            <a:srgbClr val="B45309"/>
                          </a:solidFill>
                          <a:latin typeface="DM Sans" pitchFamily="34" charset="0"/>
                          <a:ea typeface="DM Sans" pitchFamily="34" charset="-122"/>
                          <a:cs typeface="DM Sans" pitchFamily="34" charset="-120"/>
                        </a:rPr>
                        <a:t>Pop</a:t>
                      </a:r>
                      <a:endParaRPr lang="en-US" sz="1500" dirty="0">
                        <a:latin typeface="DM Sans" charset="0"/>
                        <a:ea typeface="DM Sans" charset="0"/>
                        <a:cs typeface="DM Sans" charset="0"/>
                      </a:endParaRPr>
                    </a:p>
                  </a:txBody>
                  <a:tcPr marL="66675" marR="66675" marT="66675" marB="6667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5975" y="4531996"/>
            <a:ext cx="5175250" cy="1113790"/>
          </a:xfrm>
          <a:prstGeom prst="roundRect">
            <a:avLst>
              <a:gd name="adj" fmla="val 8837"/>
            </a:avLst>
          </a:prstGeom>
          <a:solidFill>
            <a:srgbClr val="FDFCF8"/>
          </a:solidFill>
          <a:ln w="6350">
            <a:solidFill>
              <a:srgbClr val="E2DFD3"/>
            </a:solidFill>
            <a:prstDash val="solid"/>
          </a:ln>
        </p:spPr>
        <p:txBody>
          <a:bodyPr/>
          <a:lstStyle/>
          <a:p>
            <a:endParaRPr lang="en-PK"/>
          </a:p>
        </p:txBody>
      </p:sp>
      <p:sp>
        <p:nvSpPr>
          <p:cNvPr id="6" name="Text 3"/>
          <p:cNvSpPr/>
          <p:nvPr/>
        </p:nvSpPr>
        <p:spPr>
          <a:xfrm>
            <a:off x="995680" y="4711700"/>
            <a:ext cx="496031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A5BD7"/>
                </a:solidFill>
                <a:latin typeface="DM Sans" pitchFamily="34" charset="0"/>
                <a:ea typeface="DM Sans" pitchFamily="34" charset="-122"/>
                <a:cs typeface="DM Sans" pitchFamily="34" charset="-120"/>
              </a:rPr>
              <a:t>A production box</a:t>
            </a:r>
            <a:endParaRPr lang="en-US" sz="1500" dirty="0"/>
          </a:p>
        </p:txBody>
      </p:sp>
      <p:sp>
        <p:nvSpPr>
          <p:cNvPr id="7" name="Text 4"/>
          <p:cNvSpPr/>
          <p:nvPr/>
        </p:nvSpPr>
        <p:spPr>
          <a:xfrm>
            <a:off x="995680" y="5003800"/>
            <a:ext cx="496031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M[Expr, ID] = 39, so Expr is replaced by ID ExprRest.</a:t>
            </a:r>
            <a:endParaRPr lang="en-US" sz="1300" dirty="0"/>
          </a:p>
        </p:txBody>
      </p:sp>
      <p:sp>
        <p:nvSpPr>
          <p:cNvPr id="8" name="Shape 5"/>
          <p:cNvSpPr/>
          <p:nvPr/>
        </p:nvSpPr>
        <p:spPr>
          <a:xfrm>
            <a:off x="6200775" y="4531996"/>
            <a:ext cx="5175250" cy="1113790"/>
          </a:xfrm>
          <a:prstGeom prst="roundRect">
            <a:avLst>
              <a:gd name="adj" fmla="val 8837"/>
            </a:avLst>
          </a:prstGeom>
          <a:solidFill>
            <a:srgbClr val="FDFCF8"/>
          </a:solidFill>
          <a:ln w="6350">
            <a:solidFill>
              <a:srgbClr val="E2DFD3"/>
            </a:solidFill>
            <a:prstDash val="solid"/>
          </a:ln>
        </p:spPr>
        <p:txBody>
          <a:bodyPr/>
          <a:lstStyle/>
          <a:p>
            <a:endParaRPr lang="en-PK"/>
          </a:p>
        </p:txBody>
      </p:sp>
      <p:sp>
        <p:nvSpPr>
          <p:cNvPr id="9" name="Text 6"/>
          <p:cNvSpPr/>
          <p:nvPr/>
        </p:nvSpPr>
        <p:spPr>
          <a:xfrm>
            <a:off x="6380480" y="4711700"/>
            <a:ext cx="496031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45309"/>
                </a:solidFill>
                <a:latin typeface="DM Sans" pitchFamily="34" charset="0"/>
                <a:ea typeface="DM Sans" pitchFamily="34" charset="-122"/>
                <a:cs typeface="DM Sans" pitchFamily="34" charset="-120"/>
              </a:rPr>
              <a:t>An error box</a:t>
            </a:r>
            <a:endParaRPr lang="en-US" sz="1500" dirty="0"/>
          </a:p>
        </p:txBody>
      </p:sp>
      <p:sp>
        <p:nvSpPr>
          <p:cNvPr id="10" name="Text 7"/>
          <p:cNvSpPr/>
          <p:nvPr/>
        </p:nvSpPr>
        <p:spPr>
          <a:xfrm>
            <a:off x="6380480" y="5003800"/>
            <a:ext cx="496031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M[Factor, *] is empty and * is in FOLLOW(Factor), so POP Factor.</a:t>
            </a:r>
            <a:endParaRPr lang="en-US" sz="1300" dirty="0"/>
          </a:p>
        </p:txBody>
      </p:sp>
      <p:sp>
        <p:nvSpPr>
          <p:cNvPr id="11" name="Text 8"/>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TABLE</a:t>
            </a:r>
            <a:endParaRPr lang="en-US" sz="1200" dirty="0"/>
          </a:p>
        </p:txBody>
      </p:sp>
      <p:sp>
        <p:nvSpPr>
          <p:cNvPr id="3" name="Text 1"/>
          <p:cNvSpPr>
            <a:spLocks noGrp="1"/>
          </p:cNvSpPr>
          <p:nvPr>
            <p:ph type="title"/>
          </p:nvPr>
        </p:nvSpPr>
        <p:spPr>
          <a:xfrm>
            <a:off x="812800" y="11023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Step 4: panic-mode recovery</a:t>
            </a:r>
            <a:endParaRPr lang="en-US" sz="3200" dirty="0"/>
          </a:p>
        </p:txBody>
      </p:sp>
      <p:sp>
        <p:nvSpPr>
          <p:cNvPr id="4" name="Shape 2"/>
          <p:cNvSpPr/>
          <p:nvPr/>
        </p:nvSpPr>
        <p:spPr>
          <a:xfrm>
            <a:off x="815975" y="1857375"/>
            <a:ext cx="3380264" cy="2175510"/>
          </a:xfrm>
          <a:prstGeom prst="roundRect">
            <a:avLst>
              <a:gd name="adj" fmla="val 4524"/>
            </a:avLst>
          </a:prstGeom>
          <a:solidFill>
            <a:srgbClr val="FDFCF8"/>
          </a:solidFill>
          <a:ln w="6350">
            <a:solidFill>
              <a:srgbClr val="E2DFD3"/>
            </a:solidFill>
            <a:prstDash val="solid"/>
          </a:ln>
        </p:spPr>
        <p:txBody>
          <a:bodyPr/>
          <a:lstStyle/>
          <a:p>
            <a:endParaRPr lang="en-PK"/>
          </a:p>
        </p:txBody>
      </p:sp>
      <p:sp>
        <p:nvSpPr>
          <p:cNvPr id="5" name="Text 3"/>
          <p:cNvSpPr/>
          <p:nvPr/>
        </p:nvSpPr>
        <p:spPr>
          <a:xfrm>
            <a:off x="1021080" y="2062479"/>
            <a:ext cx="3059155"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B45309"/>
                </a:solidFill>
                <a:latin typeface="DM Sans" pitchFamily="34" charset="0"/>
                <a:ea typeface="DM Sans" pitchFamily="34" charset="-122"/>
                <a:cs typeface="DM Sans" pitchFamily="34" charset="-120"/>
              </a:rPr>
              <a:t>POP</a:t>
            </a:r>
            <a:endParaRPr lang="en-US" sz="2200" dirty="0"/>
          </a:p>
        </p:txBody>
      </p:sp>
      <p:sp>
        <p:nvSpPr>
          <p:cNvPr id="6" name="Text 4"/>
          <p:cNvSpPr/>
          <p:nvPr/>
        </p:nvSpPr>
        <p:spPr>
          <a:xfrm>
            <a:off x="1021080" y="2499364"/>
            <a:ext cx="3059155"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F1B33"/>
                </a:solidFill>
                <a:latin typeface="DM Sans" pitchFamily="34" charset="0"/>
                <a:ea typeface="DM Sans" pitchFamily="34" charset="-122"/>
                <a:cs typeface="DM Sans" pitchFamily="34" charset="-120"/>
              </a:rPr>
              <a:t>Empty box, and the token is in FOLLOW(A) or is $</a:t>
            </a:r>
            <a:endParaRPr lang="en-US" sz="1400" dirty="0"/>
          </a:p>
        </p:txBody>
      </p:sp>
      <p:sp>
        <p:nvSpPr>
          <p:cNvPr id="7" name="Text 5"/>
          <p:cNvSpPr/>
          <p:nvPr/>
        </p:nvSpPr>
        <p:spPr>
          <a:xfrm>
            <a:off x="1021080" y="3081021"/>
            <a:ext cx="305915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468"/>
                </a:solidFill>
                <a:latin typeface="DM Sans" pitchFamily="34" charset="0"/>
                <a:ea typeface="DM Sans" pitchFamily="34" charset="-122"/>
                <a:cs typeface="DM Sans" pitchFamily="34" charset="-120"/>
              </a:rPr>
              <a:t>Discard A from the stack. A is treated as missing and parsing resumes after it.</a:t>
            </a:r>
            <a:endParaRPr lang="en-US" sz="1400" dirty="0"/>
          </a:p>
        </p:txBody>
      </p:sp>
      <p:sp>
        <p:nvSpPr>
          <p:cNvPr id="8" name="Shape 6"/>
          <p:cNvSpPr/>
          <p:nvPr/>
        </p:nvSpPr>
        <p:spPr>
          <a:xfrm>
            <a:off x="4405789" y="1857375"/>
            <a:ext cx="3380343" cy="2175510"/>
          </a:xfrm>
          <a:prstGeom prst="roundRect">
            <a:avLst>
              <a:gd name="adj" fmla="val 4524"/>
            </a:avLst>
          </a:prstGeom>
          <a:solidFill>
            <a:srgbClr val="FDFCF8"/>
          </a:solidFill>
          <a:ln w="6350">
            <a:solidFill>
              <a:srgbClr val="E2DFD3"/>
            </a:solidFill>
            <a:prstDash val="solid"/>
          </a:ln>
        </p:spPr>
        <p:txBody>
          <a:bodyPr/>
          <a:lstStyle/>
          <a:p>
            <a:endParaRPr lang="en-PK"/>
          </a:p>
        </p:txBody>
      </p:sp>
      <p:sp>
        <p:nvSpPr>
          <p:cNvPr id="9" name="Text 7"/>
          <p:cNvSpPr/>
          <p:nvPr/>
        </p:nvSpPr>
        <p:spPr>
          <a:xfrm>
            <a:off x="4610894" y="2062479"/>
            <a:ext cx="305923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4A5468"/>
                </a:solidFill>
                <a:latin typeface="DM Sans" pitchFamily="34" charset="0"/>
                <a:ea typeface="DM Sans" pitchFamily="34" charset="-122"/>
                <a:cs typeface="DM Sans" pitchFamily="34" charset="-120"/>
              </a:rPr>
              <a:t>SCAN</a:t>
            </a:r>
            <a:endParaRPr lang="en-US" sz="2200" dirty="0"/>
          </a:p>
        </p:txBody>
      </p:sp>
      <p:sp>
        <p:nvSpPr>
          <p:cNvPr id="10" name="Text 8"/>
          <p:cNvSpPr/>
          <p:nvPr/>
        </p:nvSpPr>
        <p:spPr>
          <a:xfrm>
            <a:off x="4610894" y="2499364"/>
            <a:ext cx="3059237"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F1B33"/>
                </a:solidFill>
                <a:latin typeface="DM Sans" pitchFamily="34" charset="0"/>
                <a:ea typeface="DM Sans" pitchFamily="34" charset="-122"/>
                <a:cs typeface="DM Sans" pitchFamily="34" charset="-120"/>
              </a:rPr>
              <a:t>Empty box, and the token is not in FIRST(A) or FOLLOW(A)</a:t>
            </a:r>
            <a:endParaRPr lang="en-US" sz="1400" dirty="0"/>
          </a:p>
        </p:txBody>
      </p:sp>
      <p:sp>
        <p:nvSpPr>
          <p:cNvPr id="11" name="Text 9"/>
          <p:cNvSpPr/>
          <p:nvPr/>
        </p:nvSpPr>
        <p:spPr>
          <a:xfrm>
            <a:off x="4610894" y="3081021"/>
            <a:ext cx="305923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468"/>
                </a:solidFill>
                <a:latin typeface="DM Sans" pitchFamily="34" charset="0"/>
                <a:ea typeface="DM Sans" pitchFamily="34" charset="-122"/>
                <a:cs typeface="DM Sans" pitchFamily="34" charset="-120"/>
              </a:rPr>
              <a:t>Discard the token from the input and try again, until a useful token appears.</a:t>
            </a:r>
            <a:endParaRPr lang="en-US" sz="1400" dirty="0"/>
          </a:p>
        </p:txBody>
      </p:sp>
      <p:sp>
        <p:nvSpPr>
          <p:cNvPr id="12" name="Shape 10"/>
          <p:cNvSpPr/>
          <p:nvPr/>
        </p:nvSpPr>
        <p:spPr>
          <a:xfrm>
            <a:off x="7995682" y="1857375"/>
            <a:ext cx="3380343" cy="2175510"/>
          </a:xfrm>
          <a:prstGeom prst="roundRect">
            <a:avLst>
              <a:gd name="adj" fmla="val 4524"/>
            </a:avLst>
          </a:prstGeom>
          <a:solidFill>
            <a:srgbClr val="FDFCF8"/>
          </a:solidFill>
          <a:ln w="6350">
            <a:solidFill>
              <a:srgbClr val="E2DFD3"/>
            </a:solidFill>
            <a:prstDash val="solid"/>
          </a:ln>
        </p:spPr>
        <p:txBody>
          <a:bodyPr/>
          <a:lstStyle/>
          <a:p>
            <a:endParaRPr lang="en-PK"/>
          </a:p>
        </p:txBody>
      </p:sp>
      <p:sp>
        <p:nvSpPr>
          <p:cNvPr id="13" name="Text 11"/>
          <p:cNvSpPr/>
          <p:nvPr/>
        </p:nvSpPr>
        <p:spPr>
          <a:xfrm>
            <a:off x="8200787" y="2062479"/>
            <a:ext cx="305923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A5BD7"/>
                </a:solidFill>
                <a:latin typeface="DM Sans" pitchFamily="34" charset="0"/>
                <a:ea typeface="DM Sans" pitchFamily="34" charset="-122"/>
                <a:cs typeface="DM Sans" pitchFamily="34" charset="-120"/>
              </a:rPr>
              <a:t>Terminal mismatch</a:t>
            </a:r>
            <a:endParaRPr lang="en-US" sz="2200" dirty="0"/>
          </a:p>
        </p:txBody>
      </p:sp>
      <p:sp>
        <p:nvSpPr>
          <p:cNvPr id="14" name="Text 12"/>
          <p:cNvSpPr/>
          <p:nvPr/>
        </p:nvSpPr>
        <p:spPr>
          <a:xfrm>
            <a:off x="8200787" y="2499364"/>
            <a:ext cx="3059237"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F1B33"/>
                </a:solidFill>
                <a:latin typeface="DM Sans" pitchFamily="34" charset="0"/>
                <a:ea typeface="DM Sans" pitchFamily="34" charset="-122"/>
                <a:cs typeface="DM Sans" pitchFamily="34" charset="-120"/>
              </a:rPr>
              <a:t>Stack top is a terminal that differs from the token</a:t>
            </a:r>
            <a:endParaRPr lang="en-US" sz="1400" dirty="0"/>
          </a:p>
        </p:txBody>
      </p:sp>
      <p:sp>
        <p:nvSpPr>
          <p:cNvPr id="15" name="Text 13"/>
          <p:cNvSpPr/>
          <p:nvPr/>
        </p:nvSpPr>
        <p:spPr>
          <a:xfrm>
            <a:off x="8200787" y="3081021"/>
            <a:ext cx="305923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468"/>
                </a:solidFill>
                <a:latin typeface="DM Sans" pitchFamily="34" charset="0"/>
                <a:ea typeface="DM Sans" pitchFamily="34" charset="-122"/>
                <a:cs typeface="DM Sans" pitchFamily="34" charset="-120"/>
              </a:rPr>
              <a:t>POP the expected terminal as missing. If the token is outside the grammar, SCAN it.</a:t>
            </a:r>
            <a:endParaRPr lang="en-US" sz="1400" dirty="0"/>
          </a:p>
        </p:txBody>
      </p:sp>
      <p:sp>
        <p:nvSpPr>
          <p:cNvPr id="16" name="Text 14"/>
          <p:cNvSpPr/>
          <p:nvPr/>
        </p:nvSpPr>
        <p:spPr>
          <a:xfrm>
            <a:off x="812800" y="4340864"/>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33"/>
                </a:solidFill>
                <a:latin typeface="DM Sans" pitchFamily="34" charset="0"/>
                <a:ea typeface="DM Sans" pitchFamily="34" charset="-122"/>
                <a:cs typeface="DM Sans" pitchFamily="34" charset="-120"/>
              </a:rPr>
              <a:t>Every error either consumes a token or shortens the stack, and $ is never scanned, so recovery always ends. An input with any error is rejected.</a:t>
            </a:r>
            <a:endParaRPr lang="en-US" sz="1500" dirty="0"/>
          </a:p>
        </p:txBody>
      </p:sp>
      <p:sp>
        <p:nvSpPr>
          <p:cNvPr id="17" name="Text 15"/>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DRY RUNS</a:t>
            </a:r>
            <a:endParaRPr lang="en-US" sz="1200" dirty="0"/>
          </a:p>
        </p:txBody>
      </p:sp>
      <p:sp>
        <p:nvSpPr>
          <p:cNvPr id="3" name="Text 1"/>
          <p:cNvSpPr>
            <a:spLocks noGrp="1"/>
          </p:cNvSpPr>
          <p:nvPr>
            <p:ph type="title"/>
          </p:nvPr>
        </p:nvSpPr>
        <p:spPr>
          <a:xfrm>
            <a:off x="812800" y="11023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Sample A: valid input</a:t>
            </a:r>
            <a:endParaRPr lang="en-US" sz="3200" dirty="0"/>
          </a:p>
        </p:txBody>
      </p:sp>
      <p:sp>
        <p:nvSpPr>
          <p:cNvPr id="4" name="Shape 2"/>
          <p:cNvSpPr/>
          <p:nvPr/>
        </p:nvSpPr>
        <p:spPr>
          <a:xfrm>
            <a:off x="812800" y="1803400"/>
            <a:ext cx="3810000" cy="2108200"/>
          </a:xfrm>
          <a:prstGeom prst="roundRect">
            <a:avLst>
              <a:gd name="adj" fmla="val 4819"/>
            </a:avLst>
          </a:prstGeom>
          <a:solidFill>
            <a:srgbClr val="0F1B33"/>
          </a:solidFill>
          <a:ln/>
        </p:spPr>
        <p:txBody>
          <a:bodyPr/>
          <a:lstStyle/>
          <a:p>
            <a:endParaRPr lang="en-PK"/>
          </a:p>
        </p:txBody>
      </p:sp>
      <p:sp>
        <p:nvSpPr>
          <p:cNvPr id="5" name="Text 3"/>
          <p:cNvSpPr/>
          <p:nvPr/>
        </p:nvSpPr>
        <p:spPr>
          <a:xfrm>
            <a:off x="990600" y="1981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Adadi sum_val ( Adadi first_arg ,</a:t>
            </a:r>
            <a:endParaRPr lang="en-US" sz="1200" dirty="0"/>
          </a:p>
        </p:txBody>
      </p:sp>
      <p:sp>
        <p:nvSpPr>
          <p:cNvPr id="6" name="Text 4"/>
          <p:cNvSpPr/>
          <p:nvPr/>
        </p:nvSpPr>
        <p:spPr>
          <a:xfrm>
            <a:off x="990600" y="2235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Ashriya second_arg )</a:t>
            </a:r>
            <a:endParaRPr lang="en-US" sz="1200" dirty="0"/>
          </a:p>
        </p:txBody>
      </p:sp>
      <p:sp>
        <p:nvSpPr>
          <p:cNvPr id="7" name="Text 5"/>
          <p:cNvSpPr/>
          <p:nvPr/>
        </p:nvSpPr>
        <p:spPr>
          <a:xfrm>
            <a:off x="990600" y="2489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990600" y="2743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Adadi first_val, total_val ::</a:t>
            </a:r>
            <a:endParaRPr lang="en-US" sz="1200" dirty="0"/>
          </a:p>
        </p:txBody>
      </p:sp>
      <p:sp>
        <p:nvSpPr>
          <p:cNvPr id="9" name="Text 7"/>
          <p:cNvSpPr/>
          <p:nvPr/>
        </p:nvSpPr>
        <p:spPr>
          <a:xfrm>
            <a:off x="990600" y="2997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first_val := first_arg + 2 * 3 ::</a:t>
            </a:r>
            <a:endParaRPr lang="en-US" sz="1200" dirty="0"/>
          </a:p>
        </p:txBody>
      </p:sp>
      <p:sp>
        <p:nvSpPr>
          <p:cNvPr id="10" name="Text 8"/>
          <p:cNvSpPr/>
          <p:nvPr/>
        </p:nvSpPr>
        <p:spPr>
          <a:xfrm>
            <a:off x="990600" y="3251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total_val := first_val - 1 ::</a:t>
            </a:r>
            <a:endParaRPr lang="en-US" sz="1200" dirty="0"/>
          </a:p>
        </p:txBody>
      </p:sp>
      <p:sp>
        <p:nvSpPr>
          <p:cNvPr id="11" name="Text 9"/>
          <p:cNvSpPr/>
          <p:nvPr/>
        </p:nvSpPr>
        <p:spPr>
          <a:xfrm>
            <a:off x="990600" y="3505200"/>
            <a:ext cx="35580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t>
            </a:r>
            <a:endParaRPr lang="en-US" sz="1200" dirty="0"/>
          </a:p>
        </p:txBody>
      </p:sp>
      <p:sp>
        <p:nvSpPr>
          <p:cNvPr id="12" name="Shape 10"/>
          <p:cNvSpPr/>
          <p:nvPr/>
        </p:nvSpPr>
        <p:spPr>
          <a:xfrm>
            <a:off x="812800" y="4064000"/>
            <a:ext cx="3810000" cy="1259840"/>
          </a:xfrm>
          <a:prstGeom prst="roundRect">
            <a:avLst>
              <a:gd name="adj" fmla="val 8065"/>
            </a:avLst>
          </a:prstGeom>
          <a:solidFill>
            <a:srgbClr val="DCEFE3"/>
          </a:solidFill>
          <a:ln/>
        </p:spPr>
        <p:txBody>
          <a:bodyPr/>
          <a:lstStyle/>
          <a:p>
            <a:endParaRPr lang="en-PK"/>
          </a:p>
        </p:txBody>
      </p:sp>
      <p:sp>
        <p:nvSpPr>
          <p:cNvPr id="13" name="Text 11"/>
          <p:cNvSpPr/>
          <p:nvPr/>
        </p:nvSpPr>
        <p:spPr>
          <a:xfrm>
            <a:off x="990600" y="4241800"/>
            <a:ext cx="355803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B7F4B"/>
                </a:solidFill>
                <a:latin typeface="DM Sans" pitchFamily="34" charset="0"/>
                <a:ea typeface="DM Sans" pitchFamily="34" charset="-122"/>
                <a:cs typeface="DM Sans" pitchFamily="34" charset="-120"/>
              </a:rPr>
              <a:t>ACCEPT</a:t>
            </a:r>
            <a:endParaRPr lang="en-US" sz="2200" dirty="0"/>
          </a:p>
        </p:txBody>
      </p:sp>
      <p:sp>
        <p:nvSpPr>
          <p:cNvPr id="14" name="Text 12"/>
          <p:cNvSpPr/>
          <p:nvPr/>
        </p:nvSpPr>
        <p:spPr>
          <a:xfrm>
            <a:off x="990600" y="4683764"/>
            <a:ext cx="355803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33"/>
                </a:solidFill>
                <a:latin typeface="DM Sans" pitchFamily="34" charset="0"/>
                <a:ea typeface="DM Sans" pitchFamily="34" charset="-122"/>
                <a:cs typeface="DM Sans" pitchFamily="34" charset="-120"/>
              </a:rPr>
              <a:t>81 steps. Stack and input both reduce to $ with 0 errors.</a:t>
            </a:r>
            <a:endParaRPr lang="en-US" sz="1300" dirty="0"/>
          </a:p>
        </p:txBody>
      </p:sp>
      <p:sp>
        <p:nvSpPr>
          <p:cNvPr id="15" name="Text 13"/>
          <p:cNvSpPr/>
          <p:nvPr/>
        </p:nvSpPr>
        <p:spPr>
          <a:xfrm>
            <a:off x="4876800" y="1803400"/>
            <a:ext cx="669747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33"/>
                </a:solidFill>
                <a:latin typeface="DM Sans" pitchFamily="34" charset="0"/>
                <a:ea typeface="DM Sans" pitchFamily="34" charset="-122"/>
                <a:cs typeface="DM Sans" pitchFamily="34" charset="-120"/>
              </a:rPr>
              <a:t>Steps 37 to 41: the statement first_val := …</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886960" y="2164081"/>
          <a:ext cx="6492240" cy="2834640"/>
        </p:xfrm>
        <a:graphic>
          <a:graphicData uri="http://schemas.openxmlformats.org/drawingml/2006/table">
            <a:tbl>
              <a:tblPr/>
              <a:tblGrid>
                <a:gridCol w="519379">
                  <a:extLst>
                    <a:ext uri="{9D8B030D-6E8A-4147-A177-3AD203B41FA5}">
                      <a16:colId xmlns:a16="http://schemas.microsoft.com/office/drawing/2014/main" val="20000"/>
                    </a:ext>
                  </a:extLst>
                </a:gridCol>
                <a:gridCol w="2077517">
                  <a:extLst>
                    <a:ext uri="{9D8B030D-6E8A-4147-A177-3AD203B41FA5}">
                      <a16:colId xmlns:a16="http://schemas.microsoft.com/office/drawing/2014/main" val="20001"/>
                    </a:ext>
                  </a:extLst>
                </a:gridCol>
                <a:gridCol w="1558138">
                  <a:extLst>
                    <a:ext uri="{9D8B030D-6E8A-4147-A177-3AD203B41FA5}">
                      <a16:colId xmlns:a16="http://schemas.microsoft.com/office/drawing/2014/main" val="20002"/>
                    </a:ext>
                  </a:extLst>
                </a:gridCol>
                <a:gridCol w="2337206">
                  <a:extLst>
                    <a:ext uri="{9D8B030D-6E8A-4147-A177-3AD203B41FA5}">
                      <a16:colId xmlns:a16="http://schemas.microsoft.com/office/drawing/2014/main" val="20003"/>
                    </a:ext>
                  </a:extLst>
                </a:gridCol>
              </a:tblGrid>
              <a:tr h="543560">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Step</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Stack</a:t>
                      </a:r>
                      <a:endParaRPr lang="en-US" sz="1200" dirty="0">
                        <a:latin typeface="DM Sans" charset="0"/>
                        <a:ea typeface="DM Sans" charset="0"/>
                        <a:cs typeface="DM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Input</a:t>
                      </a:r>
                      <a:endParaRPr lang="en-US" sz="1200" dirty="0">
                        <a:latin typeface="DM Sans" charset="0"/>
                        <a:ea typeface="DM Sans" charset="0"/>
                        <a:cs typeface="DM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0F1B33"/>
                          </a:solidFill>
                          <a:latin typeface="DM Sans" pitchFamily="34" charset="0"/>
                          <a:ea typeface="DM Sans" pitchFamily="34" charset="-122"/>
                          <a:cs typeface="DM Sans" pitchFamily="34" charset="-120"/>
                        </a:rPr>
                        <a:t>Action</a:t>
                      </a:r>
                      <a:endParaRPr lang="en-US" sz="1200" dirty="0">
                        <a:latin typeface="DM Sans" charset="0"/>
                        <a:ea typeface="DM Sans" charset="0"/>
                        <a:cs typeface="DM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37</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Expr :: StmtList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ID := ID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M[Expr,ID] = 39: Expr → ID ExprRest</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38</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ID ExprRest :: StmtList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ID := ID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match ID</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39</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ExprRest :: StmtList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 ID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M[ExprRest,:=] = 42: ExprRest → := Expr</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40</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 Expr :: StmtList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 ID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match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543560">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41</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Expr :: StmtList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ID + NUM * …</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0F1B33"/>
                          </a:solidFill>
                          <a:latin typeface="DM Sans" pitchFamily="34" charset="0"/>
                          <a:ea typeface="DM Sans" pitchFamily="34" charset="-122"/>
                          <a:cs typeface="DM Sans" pitchFamily="34" charset="-120"/>
                        </a:rPr>
                        <a:t>M[Expr,ID] = 39: Expr → ID ExprRest</a:t>
                      </a:r>
                      <a:endParaRPr lang="en-US" sz="1200" dirty="0">
                        <a:latin typeface="DM Sans" charset="0"/>
                        <a:ea typeface="DM Sans" charset="0"/>
                        <a:cs typeface="DM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Text 14"/>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18"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DRY RUNS</a:t>
            </a:r>
            <a:endParaRPr lang="en-US" sz="1200" dirty="0"/>
          </a:p>
        </p:txBody>
      </p:sp>
      <p:sp>
        <p:nvSpPr>
          <p:cNvPr id="3" name="Text 1"/>
          <p:cNvSpPr>
            <a:spLocks noGrp="1"/>
          </p:cNvSpPr>
          <p:nvPr>
            <p:ph type="title"/>
          </p:nvPr>
        </p:nvSpPr>
        <p:spPr>
          <a:xfrm>
            <a:off x="812800" y="11023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Sample B: errors recovered by POP</a:t>
            </a:r>
            <a:endParaRPr lang="en-US" sz="3200" dirty="0"/>
          </a:p>
        </p:txBody>
      </p:sp>
      <p:sp>
        <p:nvSpPr>
          <p:cNvPr id="4" name="Shape 2"/>
          <p:cNvSpPr/>
          <p:nvPr/>
        </p:nvSpPr>
        <p:spPr>
          <a:xfrm>
            <a:off x="812800" y="1803400"/>
            <a:ext cx="3556000" cy="2245360"/>
          </a:xfrm>
          <a:prstGeom prst="roundRect">
            <a:avLst>
              <a:gd name="adj" fmla="val 4525"/>
            </a:avLst>
          </a:prstGeom>
          <a:solidFill>
            <a:srgbClr val="0F1B33"/>
          </a:solidFill>
          <a:ln/>
        </p:spPr>
        <p:txBody>
          <a:bodyPr/>
          <a:lstStyle/>
          <a:p>
            <a:endParaRPr lang="en-PK"/>
          </a:p>
        </p:txBody>
      </p:sp>
      <p:sp>
        <p:nvSpPr>
          <p:cNvPr id="5" name="Text 3"/>
          <p:cNvSpPr/>
          <p:nvPr/>
        </p:nvSpPr>
        <p:spPr>
          <a:xfrm>
            <a:off x="990600" y="1981200"/>
            <a:ext cx="329641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134"/>
                </a:solidFill>
                <a:latin typeface="DM Sans" pitchFamily="34" charset="0"/>
                <a:ea typeface="DM Sans" pitchFamily="34" charset="-122"/>
                <a:cs typeface="DM Sans" pitchFamily="34" charset="-120"/>
              </a:rPr>
              <a:t>SOURCE</a:t>
            </a:r>
            <a:endParaRPr lang="en-US" sz="1200" dirty="0"/>
          </a:p>
        </p:txBody>
      </p:sp>
      <p:sp>
        <p:nvSpPr>
          <p:cNvPr id="6" name="Text 4"/>
          <p:cNvSpPr/>
          <p:nvPr/>
        </p:nvSpPr>
        <p:spPr>
          <a:xfrm>
            <a:off x="990600" y="2219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Adadi Marqazi ()</a:t>
            </a:r>
            <a:endParaRPr lang="en-US" sz="1200" dirty="0"/>
          </a:p>
        </p:txBody>
      </p:sp>
      <p:sp>
        <p:nvSpPr>
          <p:cNvPr id="7" name="Text 5"/>
          <p:cNvSpPr/>
          <p:nvPr/>
        </p:nvSpPr>
        <p:spPr>
          <a:xfrm>
            <a:off x="990600" y="2473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990600" y="2727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FB4AB"/>
                </a:solidFill>
                <a:latin typeface="JetBrains Mono" pitchFamily="49" charset="0"/>
                <a:ea typeface="JetBrains Mono" pitchFamily="49" charset="-122"/>
                <a:cs typeface="JetBrains Mono" pitchFamily="49" charset="-120"/>
              </a:rPr>
              <a:t>Adadi first_val, ::</a:t>
            </a:r>
            <a:endParaRPr lang="en-US" sz="1200" dirty="0"/>
          </a:p>
        </p:txBody>
      </p:sp>
      <p:sp>
        <p:nvSpPr>
          <p:cNvPr id="9" name="Text 7"/>
          <p:cNvSpPr/>
          <p:nvPr/>
        </p:nvSpPr>
        <p:spPr>
          <a:xfrm>
            <a:off x="990600" y="2981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FB4AB"/>
                </a:solidFill>
                <a:latin typeface="JetBrains Mono" pitchFamily="49" charset="0"/>
                <a:ea typeface="JetBrains Mono" pitchFamily="49" charset="-122"/>
                <a:cs typeface="JetBrains Mono" pitchFamily="49" charset="-120"/>
              </a:rPr>
              <a:t>first_val := 2 + ::</a:t>
            </a:r>
            <a:endParaRPr lang="en-US" sz="1200" dirty="0"/>
          </a:p>
        </p:txBody>
      </p:sp>
      <p:sp>
        <p:nvSpPr>
          <p:cNvPr id="10" name="Text 8"/>
          <p:cNvSpPr/>
          <p:nvPr/>
        </p:nvSpPr>
        <p:spPr>
          <a:xfrm>
            <a:off x="990600" y="3235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t>
            </a:r>
            <a:endParaRPr lang="en-US" sz="1200" dirty="0"/>
          </a:p>
        </p:txBody>
      </p:sp>
      <p:sp>
        <p:nvSpPr>
          <p:cNvPr id="11" name="Shape 9"/>
          <p:cNvSpPr/>
          <p:nvPr/>
        </p:nvSpPr>
        <p:spPr>
          <a:xfrm>
            <a:off x="4622800" y="1803400"/>
            <a:ext cx="6756400" cy="1046480"/>
          </a:xfrm>
          <a:prstGeom prst="roundRect">
            <a:avLst>
              <a:gd name="adj" fmla="val 7282"/>
            </a:avLst>
          </a:prstGeom>
          <a:solidFill>
            <a:srgbClr val="FBE4E1"/>
          </a:solidFill>
          <a:ln/>
        </p:spPr>
        <p:txBody>
          <a:bodyPr/>
          <a:lstStyle/>
          <a:p>
            <a:endParaRPr lang="en-PK"/>
          </a:p>
        </p:txBody>
      </p:sp>
      <p:sp>
        <p:nvSpPr>
          <p:cNvPr id="12" name="Shape 10"/>
          <p:cNvSpPr/>
          <p:nvPr/>
        </p:nvSpPr>
        <p:spPr>
          <a:xfrm>
            <a:off x="4622800" y="1803400"/>
            <a:ext cx="6756400" cy="1046480"/>
          </a:xfrm>
          <a:custGeom>
            <a:avLst/>
            <a:gdLst/>
            <a:ahLst/>
            <a:cxnLst/>
            <a:rect l="l" t="t" r="r" b="b"/>
            <a:pathLst>
              <a:path w="6756400" h="1046480">
                <a:moveTo>
                  <a:pt x="76200" y="1046480"/>
                </a:moveTo>
                <a:lnTo>
                  <a:pt x="76200" y="1046480"/>
                </a:lnTo>
                <a:arcTo wR="76200" hR="76200" stAng="5400000" swAng="5400000"/>
                <a:lnTo>
                  <a:pt x="0" y="76200"/>
                </a:lnTo>
                <a:arcTo wR="76200" hR="76200" stAng="10800000" swAng="5400000"/>
                <a:lnTo>
                  <a:pt x="76200" y="0"/>
                </a:lnTo>
                <a:arcTo wR="25400" hR="76200" stAng="16200000" swAng="-5400000"/>
                <a:lnTo>
                  <a:pt x="50800" y="970280"/>
                </a:lnTo>
                <a:arcTo wR="25400" hR="76200" stAng="10800000" swAng="-5400000"/>
                <a:close/>
              </a:path>
            </a:pathLst>
          </a:custGeom>
          <a:solidFill>
            <a:srgbClr val="B3261E"/>
          </a:solidFill>
          <a:ln/>
        </p:spPr>
        <p:txBody>
          <a:bodyPr/>
          <a:lstStyle/>
          <a:p>
            <a:endParaRPr lang="en-PK"/>
          </a:p>
        </p:txBody>
      </p:sp>
      <p:sp>
        <p:nvSpPr>
          <p:cNvPr id="13" name="Text 11"/>
          <p:cNvSpPr/>
          <p:nvPr/>
        </p:nvSpPr>
        <p:spPr>
          <a:xfrm>
            <a:off x="4851400" y="1955800"/>
            <a:ext cx="65405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261E"/>
                </a:solidFill>
                <a:latin typeface="DM Sans" pitchFamily="34" charset="0"/>
                <a:ea typeface="DM Sans" pitchFamily="34" charset="-122"/>
                <a:cs typeface="DM Sans" pitchFamily="34" charset="-120"/>
              </a:rPr>
              <a:t>E1 · step 18 · line 3, col 19</a:t>
            </a:r>
            <a:endParaRPr lang="en-US" sz="1500" dirty="0"/>
          </a:p>
        </p:txBody>
      </p:sp>
      <p:sp>
        <p:nvSpPr>
          <p:cNvPr id="14" name="Text 12"/>
          <p:cNvSpPr/>
          <p:nvPr/>
        </p:nvSpPr>
        <p:spPr>
          <a:xfrm>
            <a:off x="4851400" y="2235200"/>
            <a:ext cx="65405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33"/>
                </a:solidFill>
                <a:latin typeface="DM Sans" pitchFamily="34" charset="0"/>
                <a:ea typeface="DM Sans" pitchFamily="34" charset="-122"/>
                <a:cs typeface="DM Sans" pitchFamily="34" charset="-120"/>
              </a:rPr>
              <a:t>Unexpected “::” after the comma. Stack top IdentList, and M[IdentList, ::] is empty with :: in FOLLOW(IdentList), so POP IdentList.</a:t>
            </a:r>
            <a:endParaRPr lang="en-US" sz="1300" dirty="0"/>
          </a:p>
        </p:txBody>
      </p:sp>
      <p:sp>
        <p:nvSpPr>
          <p:cNvPr id="15" name="Shape 13"/>
          <p:cNvSpPr/>
          <p:nvPr/>
        </p:nvSpPr>
        <p:spPr>
          <a:xfrm>
            <a:off x="4622800" y="3002279"/>
            <a:ext cx="6756400" cy="1046480"/>
          </a:xfrm>
          <a:prstGeom prst="roundRect">
            <a:avLst>
              <a:gd name="adj" fmla="val 7282"/>
            </a:avLst>
          </a:prstGeom>
          <a:solidFill>
            <a:srgbClr val="FBE4E1"/>
          </a:solidFill>
          <a:ln/>
        </p:spPr>
        <p:txBody>
          <a:bodyPr/>
          <a:lstStyle/>
          <a:p>
            <a:endParaRPr lang="en-PK"/>
          </a:p>
        </p:txBody>
      </p:sp>
      <p:sp>
        <p:nvSpPr>
          <p:cNvPr id="16" name="Shape 14"/>
          <p:cNvSpPr/>
          <p:nvPr/>
        </p:nvSpPr>
        <p:spPr>
          <a:xfrm>
            <a:off x="4622800" y="3002279"/>
            <a:ext cx="6756400" cy="1046480"/>
          </a:xfrm>
          <a:custGeom>
            <a:avLst/>
            <a:gdLst/>
            <a:ahLst/>
            <a:cxnLst/>
            <a:rect l="l" t="t" r="r" b="b"/>
            <a:pathLst>
              <a:path w="6756400" h="1046480">
                <a:moveTo>
                  <a:pt x="76200" y="1046480"/>
                </a:moveTo>
                <a:lnTo>
                  <a:pt x="76200" y="1046480"/>
                </a:lnTo>
                <a:arcTo wR="76200" hR="76200" stAng="5400000" swAng="5400000"/>
                <a:lnTo>
                  <a:pt x="0" y="76200"/>
                </a:lnTo>
                <a:arcTo wR="76200" hR="76200" stAng="10800000" swAng="5400000"/>
                <a:lnTo>
                  <a:pt x="76200" y="0"/>
                </a:lnTo>
                <a:arcTo wR="25400" hR="76200" stAng="16200000" swAng="-5400000"/>
                <a:lnTo>
                  <a:pt x="50800" y="970280"/>
                </a:lnTo>
                <a:arcTo wR="25400" hR="76200" stAng="10800000" swAng="-5400000"/>
                <a:close/>
              </a:path>
            </a:pathLst>
          </a:custGeom>
          <a:solidFill>
            <a:srgbClr val="B3261E"/>
          </a:solidFill>
          <a:ln/>
        </p:spPr>
        <p:txBody>
          <a:bodyPr/>
          <a:lstStyle/>
          <a:p>
            <a:endParaRPr lang="en-PK"/>
          </a:p>
        </p:txBody>
      </p:sp>
      <p:sp>
        <p:nvSpPr>
          <p:cNvPr id="17" name="Text 15"/>
          <p:cNvSpPr/>
          <p:nvPr/>
        </p:nvSpPr>
        <p:spPr>
          <a:xfrm>
            <a:off x="4851400" y="3154679"/>
            <a:ext cx="65405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261E"/>
                </a:solidFill>
                <a:latin typeface="DM Sans" pitchFamily="34" charset="0"/>
                <a:ea typeface="DM Sans" pitchFamily="34" charset="-122"/>
                <a:cs typeface="DM Sans" pitchFamily="34" charset="-120"/>
              </a:rPr>
              <a:t>E2 · step 32 · line 4, col 19</a:t>
            </a:r>
            <a:endParaRPr lang="en-US" sz="1500" dirty="0"/>
          </a:p>
        </p:txBody>
      </p:sp>
      <p:sp>
        <p:nvSpPr>
          <p:cNvPr id="18" name="Text 16"/>
          <p:cNvSpPr/>
          <p:nvPr/>
        </p:nvSpPr>
        <p:spPr>
          <a:xfrm>
            <a:off x="4851400" y="3434079"/>
            <a:ext cx="65405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33"/>
                </a:solidFill>
                <a:latin typeface="DM Sans" pitchFamily="34" charset="0"/>
                <a:ea typeface="DM Sans" pitchFamily="34" charset="-122"/>
                <a:cs typeface="DM Sans" pitchFamily="34" charset="-120"/>
              </a:rPr>
              <a:t>Unexpected “::” after “+”. Stack top Term, and M[Term, ::] is empty with :: in FOLLOW(Term), so POP Term.</a:t>
            </a:r>
            <a:endParaRPr lang="en-US" sz="1300" dirty="0"/>
          </a:p>
        </p:txBody>
      </p:sp>
      <p:sp>
        <p:nvSpPr>
          <p:cNvPr id="19" name="Text 17"/>
          <p:cNvSpPr/>
          <p:nvPr/>
        </p:nvSpPr>
        <p:spPr>
          <a:xfrm>
            <a:off x="812800" y="4302764"/>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3261E"/>
                </a:solidFill>
                <a:latin typeface="DM Sans" pitchFamily="34" charset="0"/>
                <a:ea typeface="DM Sans" pitchFamily="34" charset="-122"/>
                <a:cs typeface="DM Sans" pitchFamily="34" charset="-120"/>
              </a:rPr>
              <a:t>REJECT: 2 syntax errors, 0 SCAN, 2 POP, 38 steps. The next statements are still checked.</a:t>
            </a:r>
            <a:endParaRPr lang="en-US" sz="1600" dirty="0"/>
          </a:p>
        </p:txBody>
      </p:sp>
      <p:sp>
        <p:nvSpPr>
          <p:cNvPr id="20" name="Text 18"/>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21" name="Text 1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DRY RUNS</a:t>
            </a:r>
            <a:endParaRPr lang="en-US" sz="1200" dirty="0"/>
          </a:p>
        </p:txBody>
      </p:sp>
      <p:sp>
        <p:nvSpPr>
          <p:cNvPr id="3" name="Text 1"/>
          <p:cNvSpPr>
            <a:spLocks noGrp="1"/>
          </p:cNvSpPr>
          <p:nvPr>
            <p:ph type="title"/>
          </p:nvPr>
        </p:nvSpPr>
        <p:spPr>
          <a:xfrm>
            <a:off x="812800" y="11023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Sample C: SCAN as well as POP</a:t>
            </a:r>
            <a:endParaRPr lang="en-US" sz="3200" dirty="0"/>
          </a:p>
        </p:txBody>
      </p:sp>
      <p:sp>
        <p:nvSpPr>
          <p:cNvPr id="4" name="Shape 2"/>
          <p:cNvSpPr/>
          <p:nvPr/>
        </p:nvSpPr>
        <p:spPr>
          <a:xfrm>
            <a:off x="812800" y="1803400"/>
            <a:ext cx="3556000" cy="2245360"/>
          </a:xfrm>
          <a:prstGeom prst="roundRect">
            <a:avLst>
              <a:gd name="adj" fmla="val 4525"/>
            </a:avLst>
          </a:prstGeom>
          <a:solidFill>
            <a:srgbClr val="0F1B33"/>
          </a:solidFill>
          <a:ln/>
        </p:spPr>
        <p:txBody>
          <a:bodyPr/>
          <a:lstStyle/>
          <a:p>
            <a:endParaRPr lang="en-PK"/>
          </a:p>
        </p:txBody>
      </p:sp>
      <p:sp>
        <p:nvSpPr>
          <p:cNvPr id="5" name="Text 3"/>
          <p:cNvSpPr/>
          <p:nvPr/>
        </p:nvSpPr>
        <p:spPr>
          <a:xfrm>
            <a:off x="990600" y="1981200"/>
            <a:ext cx="329641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134"/>
                </a:solidFill>
                <a:latin typeface="DM Sans" pitchFamily="34" charset="0"/>
                <a:ea typeface="DM Sans" pitchFamily="34" charset="-122"/>
                <a:cs typeface="DM Sans" pitchFamily="34" charset="-120"/>
              </a:rPr>
              <a:t>SOURCE</a:t>
            </a:r>
            <a:endParaRPr lang="en-US" sz="1200" dirty="0"/>
          </a:p>
        </p:txBody>
      </p:sp>
      <p:sp>
        <p:nvSpPr>
          <p:cNvPr id="6" name="Text 4"/>
          <p:cNvSpPr/>
          <p:nvPr/>
        </p:nvSpPr>
        <p:spPr>
          <a:xfrm>
            <a:off x="990600" y="2219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Adadi Marqazi ()</a:t>
            </a:r>
            <a:endParaRPr lang="en-US" sz="1200" dirty="0"/>
          </a:p>
        </p:txBody>
      </p:sp>
      <p:sp>
        <p:nvSpPr>
          <p:cNvPr id="7" name="Text 5"/>
          <p:cNvSpPr/>
          <p:nvPr/>
        </p:nvSpPr>
        <p:spPr>
          <a:xfrm>
            <a:off x="990600" y="2473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990600" y="2727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Adadi first_val ::</a:t>
            </a:r>
            <a:endParaRPr lang="en-US" sz="1200" dirty="0"/>
          </a:p>
        </p:txBody>
      </p:sp>
      <p:sp>
        <p:nvSpPr>
          <p:cNvPr id="9" name="Text 7"/>
          <p:cNvSpPr/>
          <p:nvPr/>
        </p:nvSpPr>
        <p:spPr>
          <a:xfrm>
            <a:off x="990600" y="2981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FB4AB"/>
                </a:solidFill>
                <a:latin typeface="JetBrains Mono" pitchFamily="49" charset="0"/>
                <a:ea typeface="JetBrains Mono" pitchFamily="49" charset="-122"/>
                <a:cs typeface="JetBrains Mono" pitchFamily="49" charset="-120"/>
              </a:rPr>
              <a:t>first_val := 2 * * 3 ::</a:t>
            </a:r>
            <a:endParaRPr lang="en-US" sz="1200" dirty="0"/>
          </a:p>
        </p:txBody>
      </p:sp>
      <p:sp>
        <p:nvSpPr>
          <p:cNvPr id="10" name="Text 8"/>
          <p:cNvSpPr/>
          <p:nvPr/>
        </p:nvSpPr>
        <p:spPr>
          <a:xfrm>
            <a:off x="990600" y="3235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FB4AB"/>
                </a:solidFill>
                <a:latin typeface="JetBrains Mono" pitchFamily="49" charset="0"/>
                <a:ea typeface="JetBrains Mono" pitchFamily="49" charset="-122"/>
                <a:cs typeface="JetBrains Mono" pitchFamily="49" charset="-120"/>
              </a:rPr>
              <a:t>first_val := 4 + Wapas 5 ::</a:t>
            </a:r>
            <a:endParaRPr lang="en-US" sz="1200" dirty="0"/>
          </a:p>
        </p:txBody>
      </p:sp>
      <p:sp>
        <p:nvSpPr>
          <p:cNvPr id="11" name="Text 9"/>
          <p:cNvSpPr/>
          <p:nvPr/>
        </p:nvSpPr>
        <p:spPr>
          <a:xfrm>
            <a:off x="990600" y="3489964"/>
            <a:ext cx="329641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a:t>
            </a:r>
            <a:endParaRPr lang="en-US" sz="1200" dirty="0"/>
          </a:p>
        </p:txBody>
      </p:sp>
      <p:sp>
        <p:nvSpPr>
          <p:cNvPr id="12" name="Shape 10"/>
          <p:cNvSpPr/>
          <p:nvPr/>
        </p:nvSpPr>
        <p:spPr>
          <a:xfrm>
            <a:off x="4622800" y="1803400"/>
            <a:ext cx="6756400" cy="1046480"/>
          </a:xfrm>
          <a:prstGeom prst="roundRect">
            <a:avLst>
              <a:gd name="adj" fmla="val 7282"/>
            </a:avLst>
          </a:prstGeom>
          <a:solidFill>
            <a:srgbClr val="FBE4E1"/>
          </a:solidFill>
          <a:ln/>
        </p:spPr>
        <p:txBody>
          <a:bodyPr/>
          <a:lstStyle/>
          <a:p>
            <a:endParaRPr lang="en-PK"/>
          </a:p>
        </p:txBody>
      </p:sp>
      <p:sp>
        <p:nvSpPr>
          <p:cNvPr id="13" name="Shape 11"/>
          <p:cNvSpPr/>
          <p:nvPr/>
        </p:nvSpPr>
        <p:spPr>
          <a:xfrm>
            <a:off x="4622800" y="1803400"/>
            <a:ext cx="6756400" cy="1046480"/>
          </a:xfrm>
          <a:custGeom>
            <a:avLst/>
            <a:gdLst/>
            <a:ahLst/>
            <a:cxnLst/>
            <a:rect l="l" t="t" r="r" b="b"/>
            <a:pathLst>
              <a:path w="6756400" h="1046480">
                <a:moveTo>
                  <a:pt x="76200" y="1046480"/>
                </a:moveTo>
                <a:lnTo>
                  <a:pt x="76200" y="1046480"/>
                </a:lnTo>
                <a:arcTo wR="76200" hR="76200" stAng="5400000" swAng="5400000"/>
                <a:lnTo>
                  <a:pt x="0" y="76200"/>
                </a:lnTo>
                <a:arcTo wR="76200" hR="76200" stAng="10800000" swAng="5400000"/>
                <a:lnTo>
                  <a:pt x="76200" y="0"/>
                </a:lnTo>
                <a:arcTo wR="25400" hR="76200" stAng="16200000" swAng="-5400000"/>
                <a:lnTo>
                  <a:pt x="50800" y="970280"/>
                </a:lnTo>
                <a:arcTo wR="25400" hR="76200" stAng="10800000" swAng="-5400000"/>
                <a:close/>
              </a:path>
            </a:pathLst>
          </a:custGeom>
          <a:solidFill>
            <a:srgbClr val="B3261E"/>
          </a:solidFill>
          <a:ln/>
        </p:spPr>
        <p:txBody>
          <a:bodyPr/>
          <a:lstStyle/>
          <a:p>
            <a:endParaRPr lang="en-PK"/>
          </a:p>
        </p:txBody>
      </p:sp>
      <p:sp>
        <p:nvSpPr>
          <p:cNvPr id="14" name="Text 12"/>
          <p:cNvSpPr/>
          <p:nvPr/>
        </p:nvSpPr>
        <p:spPr>
          <a:xfrm>
            <a:off x="4851400" y="1955800"/>
            <a:ext cx="65405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261E"/>
                </a:solidFill>
                <a:latin typeface="DM Sans" pitchFamily="34" charset="0"/>
                <a:ea typeface="DM Sans" pitchFamily="34" charset="-122"/>
                <a:cs typeface="DM Sans" pitchFamily="34" charset="-120"/>
              </a:rPr>
              <a:t>E1 · step 29 · line 4, col 19 · POP</a:t>
            </a:r>
            <a:endParaRPr lang="en-US" sz="1500" dirty="0"/>
          </a:p>
        </p:txBody>
      </p:sp>
      <p:sp>
        <p:nvSpPr>
          <p:cNvPr id="15" name="Text 13"/>
          <p:cNvSpPr/>
          <p:nvPr/>
        </p:nvSpPr>
        <p:spPr>
          <a:xfrm>
            <a:off x="4851400" y="2235200"/>
            <a:ext cx="65405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33"/>
                </a:solidFill>
                <a:latin typeface="DM Sans" pitchFamily="34" charset="0"/>
                <a:ea typeface="DM Sans" pitchFamily="34" charset="-122"/>
                <a:cs typeface="DM Sans" pitchFamily="34" charset="-120"/>
              </a:rPr>
              <a:t>The second “*” where a Factor should start. M[Factor, *] is empty and * is in FOLLOW(Factor), so POP Factor.</a:t>
            </a:r>
            <a:endParaRPr lang="en-US" sz="1300" dirty="0"/>
          </a:p>
        </p:txBody>
      </p:sp>
      <p:sp>
        <p:nvSpPr>
          <p:cNvPr id="16" name="Shape 14"/>
          <p:cNvSpPr/>
          <p:nvPr/>
        </p:nvSpPr>
        <p:spPr>
          <a:xfrm>
            <a:off x="4622800" y="3002279"/>
            <a:ext cx="6756400" cy="1046480"/>
          </a:xfrm>
          <a:prstGeom prst="roundRect">
            <a:avLst>
              <a:gd name="adj" fmla="val 7282"/>
            </a:avLst>
          </a:prstGeom>
          <a:solidFill>
            <a:srgbClr val="FBE4E1"/>
          </a:solidFill>
          <a:ln/>
        </p:spPr>
        <p:txBody>
          <a:bodyPr/>
          <a:lstStyle/>
          <a:p>
            <a:endParaRPr lang="en-PK"/>
          </a:p>
        </p:txBody>
      </p:sp>
      <p:sp>
        <p:nvSpPr>
          <p:cNvPr id="17" name="Shape 15"/>
          <p:cNvSpPr/>
          <p:nvPr/>
        </p:nvSpPr>
        <p:spPr>
          <a:xfrm>
            <a:off x="4622800" y="3002279"/>
            <a:ext cx="6756400" cy="1046480"/>
          </a:xfrm>
          <a:custGeom>
            <a:avLst/>
            <a:gdLst/>
            <a:ahLst/>
            <a:cxnLst/>
            <a:rect l="l" t="t" r="r" b="b"/>
            <a:pathLst>
              <a:path w="6756400" h="1046480">
                <a:moveTo>
                  <a:pt x="76200" y="1046480"/>
                </a:moveTo>
                <a:lnTo>
                  <a:pt x="76200" y="1046480"/>
                </a:lnTo>
                <a:arcTo wR="76200" hR="76200" stAng="5400000" swAng="5400000"/>
                <a:lnTo>
                  <a:pt x="0" y="76200"/>
                </a:lnTo>
                <a:arcTo wR="76200" hR="76200" stAng="10800000" swAng="5400000"/>
                <a:lnTo>
                  <a:pt x="76200" y="0"/>
                </a:lnTo>
                <a:arcTo wR="25400" hR="76200" stAng="16200000" swAng="-5400000"/>
                <a:lnTo>
                  <a:pt x="50800" y="970280"/>
                </a:lnTo>
                <a:arcTo wR="25400" hR="76200" stAng="10800000" swAng="-5400000"/>
                <a:close/>
              </a:path>
            </a:pathLst>
          </a:custGeom>
          <a:solidFill>
            <a:srgbClr val="B3261E"/>
          </a:solidFill>
          <a:ln/>
        </p:spPr>
        <p:txBody>
          <a:bodyPr/>
          <a:lstStyle/>
          <a:p>
            <a:endParaRPr lang="en-PK"/>
          </a:p>
        </p:txBody>
      </p:sp>
      <p:sp>
        <p:nvSpPr>
          <p:cNvPr id="18" name="Text 16"/>
          <p:cNvSpPr/>
          <p:nvPr/>
        </p:nvSpPr>
        <p:spPr>
          <a:xfrm>
            <a:off x="4851400" y="3154679"/>
            <a:ext cx="65405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261E"/>
                </a:solidFill>
                <a:latin typeface="DM Sans" pitchFamily="34" charset="0"/>
                <a:ea typeface="DM Sans" pitchFamily="34" charset="-122"/>
                <a:cs typeface="DM Sans" pitchFamily="34" charset="-120"/>
              </a:rPr>
              <a:t>E2 · step 50 · line 5, col 19 · SCAN</a:t>
            </a:r>
            <a:endParaRPr lang="en-US" sz="1500" dirty="0"/>
          </a:p>
        </p:txBody>
      </p:sp>
      <p:sp>
        <p:nvSpPr>
          <p:cNvPr id="19" name="Text 17"/>
          <p:cNvSpPr/>
          <p:nvPr/>
        </p:nvSpPr>
        <p:spPr>
          <a:xfrm>
            <a:off x="4851400" y="3434079"/>
            <a:ext cx="65405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33"/>
                </a:solidFill>
                <a:latin typeface="DM Sans" pitchFamily="34" charset="0"/>
                <a:ea typeface="DM Sans" pitchFamily="34" charset="-122"/>
                <a:cs typeface="DM Sans" pitchFamily="34" charset="-120"/>
              </a:rPr>
              <a:t>“Wapas” is not a grammar token. M[Term, other] is empty and other is not in FOLLOW(Term), so SCAN Wapas.</a:t>
            </a:r>
            <a:endParaRPr lang="en-US" sz="1300" dirty="0"/>
          </a:p>
        </p:txBody>
      </p:sp>
      <p:sp>
        <p:nvSpPr>
          <p:cNvPr id="20" name="Text 18"/>
          <p:cNvSpPr/>
          <p:nvPr/>
        </p:nvSpPr>
        <p:spPr>
          <a:xfrm>
            <a:off x="812800" y="4302764"/>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3261E"/>
                </a:solidFill>
                <a:latin typeface="DM Sans" pitchFamily="34" charset="0"/>
                <a:ea typeface="DM Sans" pitchFamily="34" charset="-122"/>
                <a:cs typeface="DM Sans" pitchFamily="34" charset="-120"/>
              </a:rPr>
              <a:t>REJECT: 2 syntax errors, 1 SCAN, 1 POP, 60 steps.</a:t>
            </a:r>
            <a:endParaRPr lang="en-US" sz="1600" dirty="0"/>
          </a:p>
        </p:txBody>
      </p:sp>
      <p:sp>
        <p:nvSpPr>
          <p:cNvPr id="21" name="Text 19"/>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CODE</a:t>
            </a:r>
            <a:endParaRPr lang="en-US" sz="1200" dirty="0"/>
          </a:p>
        </p:txBody>
      </p:sp>
      <p:sp>
        <p:nvSpPr>
          <p:cNvPr id="3" name="Text 1"/>
          <p:cNvSpPr>
            <a:spLocks noGrp="1"/>
          </p:cNvSpPr>
          <p:nvPr>
            <p:ph type="title"/>
          </p:nvPr>
        </p:nvSpPr>
        <p:spPr>
          <a:xfrm>
            <a:off x="812800" y="11023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From handwritten work to main.cpp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068320"/>
        </p:xfrm>
        <a:graphic>
          <a:graphicData uri="http://schemas.openxmlformats.org/drawingml/2006/table">
            <a:tbl>
              <a:tblPr/>
              <a:tblGrid>
                <a:gridCol w="3800246">
                  <a:extLst>
                    <a:ext uri="{9D8B030D-6E8A-4147-A177-3AD203B41FA5}">
                      <a16:colId xmlns:a16="http://schemas.microsoft.com/office/drawing/2014/main" val="20000"/>
                    </a:ext>
                  </a:extLst>
                </a:gridCol>
                <a:gridCol w="6755994">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0F1B33"/>
                          </a:solidFill>
                          <a:latin typeface="DM Sans" pitchFamily="34" charset="0"/>
                          <a:ea typeface="DM Sans" pitchFamily="34" charset="-122"/>
                          <a:cs typeface="DM Sans" pitchFamily="34" charset="-120"/>
                        </a:rPr>
                        <a:t>Handwritten part</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960"/>
                        </a:lnSpc>
                        <a:buNone/>
                      </a:pPr>
                      <a:r>
                        <a:rPr lang="en-US" sz="1400" b="1" dirty="0">
                          <a:solidFill>
                            <a:srgbClr val="0F1B33"/>
                          </a:solidFill>
                          <a:latin typeface="DM Sans" pitchFamily="34" charset="0"/>
                          <a:ea typeface="DM Sans" pitchFamily="34" charset="-122"/>
                          <a:cs typeface="DM Sans" pitchFamily="34" charset="-120"/>
                        </a:rPr>
                        <a:t>In main.cpp</a:t>
                      </a:r>
                      <a:endParaRPr lang="en-US" sz="1400" dirty="0">
                        <a:latin typeface="DM Sans" charset="0"/>
                        <a:ea typeface="DM Sans" charset="0"/>
                        <a:cs typeface="DM Sans" charset="0"/>
                      </a:endParaRPr>
                    </a:p>
                  </a:txBody>
                  <a:tcPr marL="62230" marR="62230" marT="62230" marB="6223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Part A: comma</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get_char_class() adds ‘,’ to the punctuation class</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Part B: 64 productions</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The prods[] array, numbered 1 to 64</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Part C: FIRST and FOLLOW</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Computed at start-up, written to ParsingTable.txt</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Part E: table M</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buildParserTables(), cell for cell the same</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Token to terminal</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mapToken() and loadTokens(), with $ appended</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Parts D and F: loop</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runParser(): match, expand, SCAN, POP</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Stack</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960"/>
                        </a:lnSpc>
                        <a:buNone/>
                      </a:pPr>
                      <a:r>
                        <a:rPr lang="en-US" sz="1400" dirty="0">
                          <a:solidFill>
                            <a:srgbClr val="0F1B33"/>
                          </a:solidFill>
                          <a:latin typeface="DM Sans" pitchFamily="34" charset="0"/>
                          <a:ea typeface="DM Sans" pitchFamily="34" charset="-122"/>
                          <a:cs typeface="DM Sans" pitchFamily="34" charset="-120"/>
                        </a:rPr>
                        <a:t>struct Stack, a growable array of our own</a:t>
                      </a:r>
                      <a:endParaRPr lang="en-US" sz="1400" dirty="0">
                        <a:latin typeface="DM Sans" charset="0"/>
                        <a:ea typeface="DM Sans" charset="0"/>
                        <a:cs typeface="DM Sans" charset="0"/>
                      </a:endParaRPr>
                    </a:p>
                  </a:txBody>
                  <a:tcPr marL="62230" marR="62230" marT="62230" marB="6223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5135879"/>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68"/>
                </a:solidFill>
                <a:latin typeface="DM Sans" pitchFamily="34" charset="0"/>
                <a:ea typeface="DM Sans" pitchFamily="34" charset="-122"/>
                <a:cs typeface="DM Sans" pitchFamily="34" charset="-120"/>
              </a:rPr>
              <a:t>No std::stack, std::vector or std::string anywhere in the project.</a:t>
            </a:r>
            <a:endParaRPr lang="en-US" sz="1300" dirty="0"/>
          </a:p>
        </p:txBody>
      </p:sp>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7" name="Text 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5BD7"/>
                </a:solidFill>
                <a:latin typeface="DM Sans" pitchFamily="34" charset="0"/>
                <a:ea typeface="DM Sans" pitchFamily="34" charset="-122"/>
                <a:cs typeface="DM Sans" pitchFamily="34" charset="-120"/>
              </a:rPr>
              <a:t>CODE</a:t>
            </a:r>
            <a:endParaRPr lang="en-US" sz="1200" dirty="0"/>
          </a:p>
        </p:txBody>
      </p:sp>
      <p:sp>
        <p:nvSpPr>
          <p:cNvPr id="3" name="Text 1"/>
          <p:cNvSpPr>
            <a:spLocks noGrp="1"/>
          </p:cNvSpPr>
          <p:nvPr>
            <p:ph type="title"/>
          </p:nvPr>
        </p:nvSpPr>
        <p:spPr>
          <a:xfrm>
            <a:off x="812800" y="11023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1B33"/>
                </a:solidFill>
                <a:latin typeface="DM Sans" pitchFamily="34" charset="0"/>
                <a:ea typeface="DM Sans" pitchFamily="34" charset="-122"/>
                <a:cs typeface="DM Sans" pitchFamily="34" charset="-120"/>
              </a:rPr>
              <a:t>Live demo</a:t>
            </a:r>
            <a:endParaRPr lang="en-US" sz="3200" dirty="0"/>
          </a:p>
        </p:txBody>
      </p:sp>
      <p:sp>
        <p:nvSpPr>
          <p:cNvPr id="4" name="Shape 2"/>
          <p:cNvSpPr/>
          <p:nvPr/>
        </p:nvSpPr>
        <p:spPr>
          <a:xfrm>
            <a:off x="815975" y="1806575"/>
            <a:ext cx="10560050" cy="567690"/>
          </a:xfrm>
          <a:prstGeom prst="roundRect">
            <a:avLst>
              <a:gd name="adj" fmla="val 17338"/>
            </a:avLst>
          </a:prstGeom>
          <a:solidFill>
            <a:srgbClr val="FDFCF8"/>
          </a:solidFill>
          <a:ln w="6350">
            <a:solidFill>
              <a:srgbClr val="E2DFD3"/>
            </a:solidFill>
            <a:prstDash val="solid"/>
          </a:ln>
        </p:spPr>
        <p:txBody>
          <a:bodyPr/>
          <a:lstStyle/>
          <a:p>
            <a:endParaRPr lang="en-PK"/>
          </a:p>
        </p:txBody>
      </p:sp>
      <p:sp>
        <p:nvSpPr>
          <p:cNvPr id="5" name="Text 3"/>
          <p:cNvSpPr/>
          <p:nvPr/>
        </p:nvSpPr>
        <p:spPr>
          <a:xfrm>
            <a:off x="1021080" y="1948179"/>
            <a:ext cx="406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A5BD7"/>
                </a:solidFill>
                <a:latin typeface="DM Sans" pitchFamily="34" charset="0"/>
                <a:ea typeface="DM Sans" pitchFamily="34" charset="-122"/>
                <a:cs typeface="DM Sans" pitchFamily="34" charset="-120"/>
              </a:rPr>
              <a:t>1</a:t>
            </a:r>
            <a:endParaRPr lang="en-US" sz="1600" dirty="0"/>
          </a:p>
        </p:txBody>
      </p:sp>
      <p:sp>
        <p:nvSpPr>
          <p:cNvPr id="6" name="Text 4"/>
          <p:cNvSpPr/>
          <p:nvPr/>
        </p:nvSpPr>
        <p:spPr>
          <a:xfrm>
            <a:off x="1579880" y="1974850"/>
            <a:ext cx="431673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33"/>
                </a:solidFill>
                <a:latin typeface="JetBrains Mono" pitchFamily="49" charset="0"/>
                <a:ea typeface="JetBrains Mono" pitchFamily="49" charset="-122"/>
                <a:cs typeface="JetBrains Mono" pitchFamily="49" charset="-120"/>
              </a:rPr>
              <a:t>g++ -o main main.cpp</a:t>
            </a:r>
            <a:endParaRPr lang="en-US" sz="1300" dirty="0"/>
          </a:p>
        </p:txBody>
      </p:sp>
      <p:sp>
        <p:nvSpPr>
          <p:cNvPr id="7" name="Text 5"/>
          <p:cNvSpPr/>
          <p:nvPr/>
        </p:nvSpPr>
        <p:spPr>
          <a:xfrm>
            <a:off x="5974080" y="1965964"/>
            <a:ext cx="535274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468"/>
                </a:solidFill>
                <a:latin typeface="DM Sans" pitchFamily="34" charset="0"/>
                <a:ea typeface="DM Sans" pitchFamily="34" charset="-122"/>
                <a:cs typeface="DM Sans" pitchFamily="34" charset="-120"/>
              </a:rPr>
              <a:t>Compiles with no warnings</a:t>
            </a:r>
            <a:endParaRPr lang="en-US" sz="1400" dirty="0"/>
          </a:p>
        </p:txBody>
      </p:sp>
      <p:sp>
        <p:nvSpPr>
          <p:cNvPr id="8" name="Shape 6"/>
          <p:cNvSpPr/>
          <p:nvPr/>
        </p:nvSpPr>
        <p:spPr>
          <a:xfrm>
            <a:off x="815975" y="2507617"/>
            <a:ext cx="10560050" cy="567690"/>
          </a:xfrm>
          <a:prstGeom prst="roundRect">
            <a:avLst>
              <a:gd name="adj" fmla="val 17338"/>
            </a:avLst>
          </a:prstGeom>
          <a:solidFill>
            <a:srgbClr val="FDFCF8"/>
          </a:solidFill>
          <a:ln w="6350">
            <a:solidFill>
              <a:srgbClr val="E2DFD3"/>
            </a:solidFill>
            <a:prstDash val="solid"/>
          </a:ln>
        </p:spPr>
        <p:txBody>
          <a:bodyPr/>
          <a:lstStyle/>
          <a:p>
            <a:endParaRPr lang="en-PK"/>
          </a:p>
        </p:txBody>
      </p:sp>
      <p:sp>
        <p:nvSpPr>
          <p:cNvPr id="9" name="Text 7"/>
          <p:cNvSpPr/>
          <p:nvPr/>
        </p:nvSpPr>
        <p:spPr>
          <a:xfrm>
            <a:off x="1021080" y="2649221"/>
            <a:ext cx="406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A5BD7"/>
                </a:solidFill>
                <a:latin typeface="DM Sans" pitchFamily="34" charset="0"/>
                <a:ea typeface="DM Sans" pitchFamily="34" charset="-122"/>
                <a:cs typeface="DM Sans" pitchFamily="34" charset="-120"/>
              </a:rPr>
              <a:t>2</a:t>
            </a:r>
            <a:endParaRPr lang="en-US" sz="1600" dirty="0"/>
          </a:p>
        </p:txBody>
      </p:sp>
      <p:sp>
        <p:nvSpPr>
          <p:cNvPr id="10" name="Text 8"/>
          <p:cNvSpPr/>
          <p:nvPr/>
        </p:nvSpPr>
        <p:spPr>
          <a:xfrm>
            <a:off x="1579880" y="2675892"/>
            <a:ext cx="431673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33"/>
                </a:solidFill>
                <a:latin typeface="JetBrains Mono" pitchFamily="49" charset="0"/>
                <a:ea typeface="JetBrains Mono" pitchFamily="49" charset="-122"/>
                <a:cs typeface="JetBrains Mono" pitchFamily="49" charset="-120"/>
              </a:rPr>
              <a:t>./main SampleA.txt</a:t>
            </a:r>
            <a:endParaRPr lang="en-US" sz="1300" dirty="0"/>
          </a:p>
        </p:txBody>
      </p:sp>
      <p:sp>
        <p:nvSpPr>
          <p:cNvPr id="11" name="Text 9"/>
          <p:cNvSpPr/>
          <p:nvPr/>
        </p:nvSpPr>
        <p:spPr>
          <a:xfrm>
            <a:off x="5974080" y="2667000"/>
            <a:ext cx="535274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7F4B"/>
                </a:solidFill>
                <a:latin typeface="DM Sans" pitchFamily="34" charset="0"/>
                <a:ea typeface="DM Sans" pitchFamily="34" charset="-122"/>
                <a:cs typeface="DM Sans" pitchFamily="34" charset="-120"/>
              </a:rPr>
              <a:t>ACCEPTED · 0 lexical, 0 syntax errors</a:t>
            </a:r>
            <a:endParaRPr lang="en-US" sz="1400" dirty="0"/>
          </a:p>
        </p:txBody>
      </p:sp>
      <p:sp>
        <p:nvSpPr>
          <p:cNvPr id="12" name="Shape 10"/>
          <p:cNvSpPr/>
          <p:nvPr/>
        </p:nvSpPr>
        <p:spPr>
          <a:xfrm>
            <a:off x="815975" y="3208654"/>
            <a:ext cx="10560050" cy="567690"/>
          </a:xfrm>
          <a:prstGeom prst="roundRect">
            <a:avLst>
              <a:gd name="adj" fmla="val 17338"/>
            </a:avLst>
          </a:prstGeom>
          <a:solidFill>
            <a:srgbClr val="FDFCF8"/>
          </a:solidFill>
          <a:ln w="6350">
            <a:solidFill>
              <a:srgbClr val="E2DFD3"/>
            </a:solidFill>
            <a:prstDash val="solid"/>
          </a:ln>
        </p:spPr>
        <p:txBody>
          <a:bodyPr/>
          <a:lstStyle/>
          <a:p>
            <a:endParaRPr lang="en-PK"/>
          </a:p>
        </p:txBody>
      </p:sp>
      <p:sp>
        <p:nvSpPr>
          <p:cNvPr id="13" name="Text 11"/>
          <p:cNvSpPr/>
          <p:nvPr/>
        </p:nvSpPr>
        <p:spPr>
          <a:xfrm>
            <a:off x="1021080" y="3350264"/>
            <a:ext cx="406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A5BD7"/>
                </a:solidFill>
                <a:latin typeface="DM Sans" pitchFamily="34" charset="0"/>
                <a:ea typeface="DM Sans" pitchFamily="34" charset="-122"/>
                <a:cs typeface="DM Sans" pitchFamily="34" charset="-120"/>
              </a:rPr>
              <a:t>3</a:t>
            </a:r>
            <a:endParaRPr lang="en-US" sz="1600" dirty="0"/>
          </a:p>
        </p:txBody>
      </p:sp>
      <p:sp>
        <p:nvSpPr>
          <p:cNvPr id="14" name="Text 12"/>
          <p:cNvSpPr/>
          <p:nvPr/>
        </p:nvSpPr>
        <p:spPr>
          <a:xfrm>
            <a:off x="1579880" y="3376929"/>
            <a:ext cx="431673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33"/>
                </a:solidFill>
                <a:latin typeface="JetBrains Mono" pitchFamily="49" charset="0"/>
                <a:ea typeface="JetBrains Mono" pitchFamily="49" charset="-122"/>
                <a:cs typeface="JetBrains Mono" pitchFamily="49" charset="-120"/>
              </a:rPr>
              <a:t>./main SampleB.txt</a:t>
            </a:r>
            <a:endParaRPr lang="en-US" sz="1300" dirty="0"/>
          </a:p>
        </p:txBody>
      </p:sp>
      <p:sp>
        <p:nvSpPr>
          <p:cNvPr id="15" name="Text 13"/>
          <p:cNvSpPr/>
          <p:nvPr/>
        </p:nvSpPr>
        <p:spPr>
          <a:xfrm>
            <a:off x="5974080" y="3368042"/>
            <a:ext cx="535274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3261E"/>
                </a:solidFill>
                <a:latin typeface="DM Sans" pitchFamily="34" charset="0"/>
                <a:ea typeface="DM Sans" pitchFamily="34" charset="-122"/>
                <a:cs typeface="DM Sans" pitchFamily="34" charset="-120"/>
              </a:rPr>
              <a:t>REJECTED · 2 syntax errors · 0 SCAN, 2 POP</a:t>
            </a:r>
            <a:endParaRPr lang="en-US" sz="1400" dirty="0"/>
          </a:p>
        </p:txBody>
      </p:sp>
      <p:sp>
        <p:nvSpPr>
          <p:cNvPr id="16" name="Shape 14"/>
          <p:cNvSpPr/>
          <p:nvPr/>
        </p:nvSpPr>
        <p:spPr>
          <a:xfrm>
            <a:off x="815975" y="3909696"/>
            <a:ext cx="10560050" cy="567690"/>
          </a:xfrm>
          <a:prstGeom prst="roundRect">
            <a:avLst>
              <a:gd name="adj" fmla="val 17338"/>
            </a:avLst>
          </a:prstGeom>
          <a:solidFill>
            <a:srgbClr val="FDFCF8"/>
          </a:solidFill>
          <a:ln w="6350">
            <a:solidFill>
              <a:srgbClr val="E2DFD3"/>
            </a:solidFill>
            <a:prstDash val="solid"/>
          </a:ln>
        </p:spPr>
        <p:txBody>
          <a:bodyPr/>
          <a:lstStyle/>
          <a:p>
            <a:endParaRPr lang="en-PK"/>
          </a:p>
        </p:txBody>
      </p:sp>
      <p:sp>
        <p:nvSpPr>
          <p:cNvPr id="17" name="Text 15"/>
          <p:cNvSpPr/>
          <p:nvPr/>
        </p:nvSpPr>
        <p:spPr>
          <a:xfrm>
            <a:off x="1021080" y="4051300"/>
            <a:ext cx="406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A5BD7"/>
                </a:solidFill>
                <a:latin typeface="DM Sans" pitchFamily="34" charset="0"/>
                <a:ea typeface="DM Sans" pitchFamily="34" charset="-122"/>
                <a:cs typeface="DM Sans" pitchFamily="34" charset="-120"/>
              </a:rPr>
              <a:t>4</a:t>
            </a:r>
            <a:endParaRPr lang="en-US" sz="1600" dirty="0"/>
          </a:p>
        </p:txBody>
      </p:sp>
      <p:sp>
        <p:nvSpPr>
          <p:cNvPr id="18" name="Text 16"/>
          <p:cNvSpPr/>
          <p:nvPr/>
        </p:nvSpPr>
        <p:spPr>
          <a:xfrm>
            <a:off x="1579880" y="4077971"/>
            <a:ext cx="431673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33"/>
                </a:solidFill>
                <a:latin typeface="JetBrains Mono" pitchFamily="49" charset="0"/>
                <a:ea typeface="JetBrains Mono" pitchFamily="49" charset="-122"/>
                <a:cs typeface="JetBrains Mono" pitchFamily="49" charset="-120"/>
              </a:rPr>
              <a:t>./main SampleC.txt</a:t>
            </a:r>
            <a:endParaRPr lang="en-US" sz="1300" dirty="0"/>
          </a:p>
        </p:txBody>
      </p:sp>
      <p:sp>
        <p:nvSpPr>
          <p:cNvPr id="19" name="Text 17"/>
          <p:cNvSpPr/>
          <p:nvPr/>
        </p:nvSpPr>
        <p:spPr>
          <a:xfrm>
            <a:off x="5974080" y="4069079"/>
            <a:ext cx="535274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3261E"/>
                </a:solidFill>
                <a:latin typeface="DM Sans" pitchFamily="34" charset="0"/>
                <a:ea typeface="DM Sans" pitchFamily="34" charset="-122"/>
                <a:cs typeface="DM Sans" pitchFamily="34" charset="-120"/>
              </a:rPr>
              <a:t>REJECTED · 2 syntax errors · 1 SCAN, 1 POP</a:t>
            </a:r>
            <a:endParaRPr lang="en-US" sz="1400" dirty="0"/>
          </a:p>
        </p:txBody>
      </p:sp>
      <p:sp>
        <p:nvSpPr>
          <p:cNvPr id="20" name="Text 18"/>
          <p:cNvSpPr/>
          <p:nvPr/>
        </p:nvSpPr>
        <p:spPr>
          <a:xfrm>
            <a:off x="812800" y="473456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468"/>
                </a:solidFill>
                <a:latin typeface="DM Sans" pitchFamily="34" charset="0"/>
                <a:ea typeface="DM Sans" pitchFamily="34" charset="-122"/>
                <a:cs typeface="DM Sans" pitchFamily="34" charset="-120"/>
              </a:rPr>
              <a:t>After each run, open ParseTrace.txt and compare it step by step with Part F of the handwritten solution.</a:t>
            </a:r>
            <a:endParaRPr lang="en-US" sz="1400" dirty="0"/>
          </a:p>
        </p:txBody>
      </p:sp>
      <p:sp>
        <p:nvSpPr>
          <p:cNvPr id="21" name="Text 19"/>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5"/>
                </a:solidFill>
                <a:latin typeface="DM Sans" pitchFamily="34" charset="0"/>
                <a:ea typeface="DM Sans" pitchFamily="34" charset="-122"/>
                <a:cs typeface="DM Sans" pitchFamily="34" charset="-120"/>
              </a:rPr>
              <a:t>Phase 2 · LL(1) syntax analyzer</a:t>
            </a:r>
            <a:endParaRPr lang="en-US" sz="12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675"/>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134"/>
                </a:solidFill>
                <a:latin typeface="DM Sans" pitchFamily="34" charset="0"/>
                <a:ea typeface="DM Sans" pitchFamily="34" charset="-122"/>
                <a:cs typeface="DM Sans" pitchFamily="34" charset="-120"/>
              </a:rPr>
              <a:t>RESULT</a:t>
            </a:r>
            <a:endParaRPr lang="en-US" sz="1200" dirty="0"/>
          </a:p>
        </p:txBody>
      </p:sp>
      <p:sp>
        <p:nvSpPr>
          <p:cNvPr id="3" name="Text 1"/>
          <p:cNvSpPr>
            <a:spLocks noGrp="1"/>
          </p:cNvSpPr>
          <p:nvPr>
            <p:ph type="title"/>
          </p:nvPr>
        </p:nvSpPr>
        <p:spPr>
          <a:xfrm>
            <a:off x="812800" y="1102364"/>
            <a:ext cx="10883392" cy="612140"/>
          </a:xfrm>
          <a:prstGeom prst="rect">
            <a:avLst/>
          </a:prstGeom>
          <a:noFill/>
          <a:ln/>
        </p:spPr>
        <p:txBody>
          <a:bodyPr wrap="square" lIns="0" tIns="0" rIns="0" bIns="0" rtlCol="0" anchor="t">
            <a:normAutofit/>
          </a:bodyPr>
          <a:lstStyle/>
          <a:p>
            <a:pPr marL="0" indent="0" algn="l">
              <a:lnSpc>
                <a:spcPts val="4620"/>
              </a:lnSpc>
              <a:buNone/>
            </a:pPr>
            <a:r>
              <a:rPr lang="en-US" sz="4400" b="1" i="0" kern="0" spc="-100" dirty="0">
                <a:solidFill>
                  <a:srgbClr val="F7F6F1"/>
                </a:solidFill>
                <a:latin typeface="DM Sans" pitchFamily="34" charset="0"/>
                <a:ea typeface="DM Sans" pitchFamily="34" charset="-122"/>
                <a:cs typeface="DM Sans" pitchFamily="34" charset="-120"/>
              </a:rPr>
              <a:t>Handwritten solution and C++ agree</a:t>
            </a:r>
            <a:endParaRPr lang="en-US" sz="4400" dirty="0"/>
          </a:p>
        </p:txBody>
      </p:sp>
      <p:sp>
        <p:nvSpPr>
          <p:cNvPr id="4" name="Text 2"/>
          <p:cNvSpPr/>
          <p:nvPr/>
        </p:nvSpPr>
        <p:spPr>
          <a:xfrm>
            <a:off x="812800" y="2977201"/>
            <a:ext cx="3418474"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81</a:t>
            </a:r>
            <a:endParaRPr lang="en-US" sz="7200" dirty="0"/>
          </a:p>
        </p:txBody>
      </p:sp>
      <p:sp>
        <p:nvSpPr>
          <p:cNvPr id="5" name="Text 3"/>
          <p:cNvSpPr/>
          <p:nvPr/>
        </p:nvSpPr>
        <p:spPr>
          <a:xfrm>
            <a:off x="812800" y="3942401"/>
            <a:ext cx="3418474"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7F6F1"/>
                </a:solidFill>
                <a:latin typeface="DM Sans" pitchFamily="34" charset="0"/>
                <a:ea typeface="DM Sans" pitchFamily="34" charset="-122"/>
                <a:cs typeface="DM Sans" pitchFamily="34" charset="-120"/>
              </a:rPr>
              <a:t>steps in Sample A</a:t>
            </a:r>
            <a:endParaRPr lang="en-US" sz="1500" dirty="0"/>
          </a:p>
        </p:txBody>
      </p:sp>
      <p:sp>
        <p:nvSpPr>
          <p:cNvPr id="6" name="Text 4"/>
          <p:cNvSpPr/>
          <p:nvPr/>
        </p:nvSpPr>
        <p:spPr>
          <a:xfrm>
            <a:off x="812800" y="4250376"/>
            <a:ext cx="341847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3D9"/>
                </a:solidFill>
                <a:latin typeface="DM Sans" pitchFamily="34" charset="0"/>
                <a:ea typeface="DM Sans" pitchFamily="34" charset="-122"/>
                <a:cs typeface="DM Sans" pitchFamily="34" charset="-120"/>
              </a:rPr>
              <a:t>ACCEPT</a:t>
            </a:r>
            <a:endParaRPr lang="en-US" sz="1400" dirty="0"/>
          </a:p>
        </p:txBody>
      </p:sp>
      <p:sp>
        <p:nvSpPr>
          <p:cNvPr id="7" name="Text 5"/>
          <p:cNvSpPr/>
          <p:nvPr/>
        </p:nvSpPr>
        <p:spPr>
          <a:xfrm>
            <a:off x="4436507" y="2977201"/>
            <a:ext cx="3418556"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38</a:t>
            </a:r>
            <a:endParaRPr lang="en-US" sz="7200" dirty="0"/>
          </a:p>
        </p:txBody>
      </p:sp>
      <p:sp>
        <p:nvSpPr>
          <p:cNvPr id="8" name="Text 6"/>
          <p:cNvSpPr/>
          <p:nvPr/>
        </p:nvSpPr>
        <p:spPr>
          <a:xfrm>
            <a:off x="4436507" y="3942401"/>
            <a:ext cx="3418556"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7F6F1"/>
                </a:solidFill>
                <a:latin typeface="DM Sans" pitchFamily="34" charset="0"/>
                <a:ea typeface="DM Sans" pitchFamily="34" charset="-122"/>
                <a:cs typeface="DM Sans" pitchFamily="34" charset="-120"/>
              </a:rPr>
              <a:t>steps in Sample B</a:t>
            </a:r>
            <a:endParaRPr lang="en-US" sz="1500" dirty="0"/>
          </a:p>
        </p:txBody>
      </p:sp>
      <p:sp>
        <p:nvSpPr>
          <p:cNvPr id="9" name="Text 7"/>
          <p:cNvSpPr/>
          <p:nvPr/>
        </p:nvSpPr>
        <p:spPr>
          <a:xfrm>
            <a:off x="4436507" y="4250376"/>
            <a:ext cx="341855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3D9"/>
                </a:solidFill>
                <a:latin typeface="DM Sans" pitchFamily="34" charset="0"/>
                <a:ea typeface="DM Sans" pitchFamily="34" charset="-122"/>
                <a:cs typeface="DM Sans" pitchFamily="34" charset="-120"/>
              </a:rPr>
              <a:t>REJECT, 2 POP</a:t>
            </a:r>
            <a:endParaRPr lang="en-US" sz="1400" dirty="0"/>
          </a:p>
        </p:txBody>
      </p:sp>
      <p:sp>
        <p:nvSpPr>
          <p:cNvPr id="10" name="Text 8"/>
          <p:cNvSpPr/>
          <p:nvPr/>
        </p:nvSpPr>
        <p:spPr>
          <a:xfrm>
            <a:off x="8060293" y="2977201"/>
            <a:ext cx="3418474"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F2B134"/>
                </a:solidFill>
                <a:latin typeface="DM Sans" pitchFamily="34" charset="0"/>
                <a:ea typeface="DM Sans" pitchFamily="34" charset="-122"/>
                <a:cs typeface="DM Sans" pitchFamily="34" charset="-120"/>
              </a:rPr>
              <a:t>60</a:t>
            </a:r>
            <a:endParaRPr lang="en-US" sz="7200" dirty="0"/>
          </a:p>
        </p:txBody>
      </p:sp>
      <p:sp>
        <p:nvSpPr>
          <p:cNvPr id="11" name="Text 9"/>
          <p:cNvSpPr/>
          <p:nvPr/>
        </p:nvSpPr>
        <p:spPr>
          <a:xfrm>
            <a:off x="8060293" y="3942401"/>
            <a:ext cx="3418474"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7F6F1"/>
                </a:solidFill>
                <a:latin typeface="DM Sans" pitchFamily="34" charset="0"/>
                <a:ea typeface="DM Sans" pitchFamily="34" charset="-122"/>
                <a:cs typeface="DM Sans" pitchFamily="34" charset="-120"/>
              </a:rPr>
              <a:t>steps in Sample C</a:t>
            </a:r>
            <a:endParaRPr lang="en-US" sz="1500" dirty="0"/>
          </a:p>
        </p:txBody>
      </p:sp>
      <p:sp>
        <p:nvSpPr>
          <p:cNvPr id="12" name="Text 10"/>
          <p:cNvSpPr/>
          <p:nvPr/>
        </p:nvSpPr>
        <p:spPr>
          <a:xfrm>
            <a:off x="8060293" y="4250376"/>
            <a:ext cx="341847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3D9"/>
                </a:solidFill>
                <a:latin typeface="DM Sans" pitchFamily="34" charset="0"/>
                <a:ea typeface="DM Sans" pitchFamily="34" charset="-122"/>
                <a:cs typeface="DM Sans" pitchFamily="34" charset="-120"/>
              </a:rPr>
              <a:t>REJECT, 1 SCAN and 1 POP</a:t>
            </a:r>
            <a:endParaRPr lang="en-US" sz="1400" dirty="0"/>
          </a:p>
        </p:txBody>
      </p:sp>
      <p:sp>
        <p:nvSpPr>
          <p:cNvPr id="13" name="Text 11"/>
          <p:cNvSpPr/>
          <p:nvPr/>
        </p:nvSpPr>
        <p:spPr>
          <a:xfrm>
            <a:off x="812800" y="57785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3D9"/>
                </a:solidFill>
                <a:latin typeface="DM Sans" pitchFamily="34" charset="0"/>
                <a:ea typeface="DM Sans" pitchFamily="34" charset="-122"/>
                <a:cs typeface="DM Sans" pitchFamily="34" charset="-120"/>
              </a:rPr>
              <a:t>The same 163 production boxes and 705 error boxes in the handwritten table and in the code, with no conflicts.</a:t>
            </a:r>
            <a:endParaRPr lang="en-US" sz="1500" dirty="0"/>
          </a:p>
        </p:txBody>
      </p:sp>
    </p:spTree>
  </p:cSld>
  <p:clrMapOvr>
    <a:masterClrMapping/>
  </p:clrMapOvr>
</p:sld>
</file>

<file path=ppt/theme/theme1.xml><?xml version="1.0" encoding="utf-8"?>
<a:theme xmlns:a="http://schemas.openxmlformats.org/drawingml/2006/main" name="Phase 2 LL(1) Parser Demo">
  <a:themeElements>
    <a:clrScheme name="Phase 2 LL(1) Parser Demo">
      <a:dk1>
        <a:srgbClr val="0F1B33"/>
      </a:dk1>
      <a:lt1>
        <a:srgbClr val="F7F6F1"/>
      </a:lt1>
      <a:dk2>
        <a:srgbClr val="495263"/>
      </a:dk2>
      <a:lt2>
        <a:srgbClr val="E0E0DE"/>
      </a:lt2>
      <a:accent1>
        <a:srgbClr val="2A5BD7"/>
      </a:accent1>
      <a:accent2>
        <a:srgbClr val="F2B134"/>
      </a:accent2>
      <a:accent3>
        <a:srgbClr val="B3261E"/>
      </a:accent3>
      <a:accent4>
        <a:srgbClr val="FFB4AB"/>
      </a:accent4>
      <a:accent5>
        <a:srgbClr val="B45309"/>
      </a:accent5>
      <a:accent6>
        <a:srgbClr val="1B7F4B"/>
      </a:accent6>
      <a:hlink>
        <a:srgbClr val="0563C1"/>
      </a:hlink>
      <a:folHlink>
        <a:srgbClr val="954F72"/>
      </a:folHlink>
    </a:clrScheme>
    <a:fontScheme name="Phase 2 LL(1) Parser Demo">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2783</Words>
  <Application>Microsoft Office PowerPoint</Application>
  <PresentationFormat>Widescreen</PresentationFormat>
  <Paragraphs>378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DM Sans</vt:lpstr>
      <vt:lpstr>JetBrains Mono</vt:lpstr>
      <vt:lpstr>Arial</vt:lpstr>
      <vt:lpstr>Phase 2 LL(1) Parser Demo</vt:lpstr>
      <vt:lpstr>LL(1) Syntax Analyzer</vt:lpstr>
      <vt:lpstr>From source text to a verdict</vt:lpstr>
      <vt:lpstr>Phase 1 update: the comma</vt:lpstr>
      <vt:lpstr>Step 1: making the grammar LL(1)</vt:lpstr>
      <vt:lpstr>The expression grammar after conversion</vt:lpstr>
      <vt:lpstr>Step 2: FIRST and FOLLOW</vt:lpstr>
      <vt:lpstr>Step 3: the parsing table</vt:lpstr>
      <vt:lpstr>Reading table M</vt:lpstr>
      <vt:lpstr>Step 4: panic-mode recovery</vt:lpstr>
      <vt:lpstr>Sample A: valid input</vt:lpstr>
      <vt:lpstr>Sample B: errors recovered by POP</vt:lpstr>
      <vt:lpstr>Sample C: SCAN as well as POP</vt:lpstr>
      <vt:lpstr>From handwritten work to main.cpp</vt:lpstr>
      <vt:lpstr>Live demo</vt:lpstr>
      <vt:lpstr>Handwritten solution and C++ agree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LL(1) Parser Demo</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Rayan Ahmad Khan BS(CS)</cp:lastModifiedBy>
  <cp:revision>2</cp:revision>
  <dcterms:created xsi:type="dcterms:W3CDTF">2026-10-28T06:44:15Z</dcterms:created>
  <dcterms:modified xsi:type="dcterms:W3CDTF">2026-10-28T06:45:30Z</dcterms:modified>
</cp:coreProperties>
</file>